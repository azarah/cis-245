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BF_90B19D76.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4"/>
  </p:notesMasterIdLst>
  <p:handoutMasterIdLst>
    <p:handoutMasterId r:id="rId15"/>
  </p:handoutMasterIdLst>
  <p:sldIdLst>
    <p:sldId id="442" r:id="rId5"/>
    <p:sldId id="443" r:id="rId6"/>
    <p:sldId id="444" r:id="rId7"/>
    <p:sldId id="450" r:id="rId8"/>
    <p:sldId id="451" r:id="rId9"/>
    <p:sldId id="445" r:id="rId10"/>
    <p:sldId id="446" r:id="rId11"/>
    <p:sldId id="447" r:id="rId12"/>
    <p:sldId id="44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B72BF33-DFC3-240F-5259-ABF520ECD756}" name="Zarah S" initials="ZS" userId="3226b0c190d3a5d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DACFC"/>
    <a:srgbClr val="09090C"/>
    <a:srgbClr val="FFFFFF"/>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58D9C7-0274-4E45-B70C-8399AA9E51C2}" v="414" dt="2026-01-29T20:07:16.652"/>
    <p1510:client id="{661F6E72-1AAF-4264-ABED-1C82B5A06209}" v="352" dt="2026-01-29T18:30:21.955"/>
    <p1510:client id="{B56A6D4F-4490-482E-9D69-86460A85322F}" v="21" dt="2026-01-29T21:21:57.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8" autoAdjust="0"/>
    <p:restoredTop sz="94660"/>
  </p:normalViewPr>
  <p:slideViewPr>
    <p:cSldViewPr snapToGrid="0">
      <p:cViewPr>
        <p:scale>
          <a:sx n="100" d="100"/>
          <a:sy n="100" d="100"/>
        </p:scale>
        <p:origin x="77" y="298"/>
      </p:cViewPr>
      <p:guideLst>
        <p:guide orient="horz" pos="2160"/>
        <p:guide pos="3816"/>
      </p:guideLst>
    </p:cSldViewPr>
  </p:slideViewPr>
  <p:notesTextViewPr>
    <p:cViewPr>
      <p:scale>
        <a:sx n="1" d="1"/>
        <a:sy n="1" d="1"/>
      </p:scale>
      <p:origin x="0" y="0"/>
    </p:cViewPr>
  </p:notesTextViewPr>
  <p:sorterViewPr>
    <p:cViewPr>
      <p:scale>
        <a:sx n="90" d="100"/>
        <a:sy n="90" d="100"/>
      </p:scale>
      <p:origin x="0" y="-90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omments/modernComment_1BF_90B19D76.xml><?xml version="1.0" encoding="utf-8"?>
<p188:cmLst xmlns:a="http://schemas.openxmlformats.org/drawingml/2006/main" xmlns:r="http://schemas.openxmlformats.org/officeDocument/2006/relationships" xmlns:p188="http://schemas.microsoft.com/office/powerpoint/2018/8/main">
  <p188:cm id="{B039A7D8-FBE6-40C7-9EBE-5B482E22CA08}" authorId="{5B72BF33-DFC3-240F-5259-ABF520ECD756}" created="2026-01-29T19:40:09.883">
    <pc:sldMkLst xmlns:pc="http://schemas.microsoft.com/office/powerpoint/2013/main/command">
      <pc:docMk/>
      <pc:sldMk cId="2427559286" sldId="447"/>
    </pc:sldMkLst>
    <p188:txBody>
      <a:bodyPr/>
      <a:lstStyle/>
      <a:p>
        <a:r>
          <a:rPr lang="en-US"/>
          <a:t>The top thing im learning about DevOps, Make rules early, later it helps release either being fast or slow in being accomplished.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042AC-E7EB-4533-80AB-C3850196CED4}" type="datetimeFigureOut">
              <a:rPr lang="en-US" smtClean="0"/>
              <a:t>1/29/2026</a:t>
            </a:fld>
            <a:endParaRPr lang="en-US"/>
          </a:p>
        </p:txBody>
      </p:sp>
      <p:sp>
        <p:nvSpPr>
          <p:cNvPr id="4" name="Footer Placeholder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D1E2F7-14E3-4821-A409-B7BC1E2744B7}" type="slidenum">
              <a:rPr lang="en-US" smtClean="0"/>
              <a:t>‹#›</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63BC9-3C98-4AB2-8802-02853E289FB4}" type="datetimeFigureOut">
              <a:rPr lang="en-US" smtClean="0"/>
              <a:t>1/29/2026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B5A-C175-4C17-879C-A25F50F472D7}" type="slidenum">
              <a:rPr lang="en-US" smtClean="0"/>
              <a:t>‹#›</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4366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129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dirty="0"/>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1/29/2026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84787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7195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47252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1/29/2026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22240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5303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1/29/2026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5302303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1/29/2026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117004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dirty="0"/>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1/29/2026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8038691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1/29/2026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44259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430262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1/29/2026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91402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1/29/2026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0051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1/29/2026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99343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1/29/2026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51338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1/29/2026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8723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1/29/2026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Tree>
    <p:extLst>
      <p:ext uri="{BB962C8B-B14F-4D97-AF65-F5344CB8AC3E}">
        <p14:creationId xmlns:p14="http://schemas.microsoft.com/office/powerpoint/2010/main" val="687031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01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896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1/29/2026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351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649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1/29/2026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66005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79987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249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1/29/2026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7625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430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289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853582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dirty="0"/>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0799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9971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732533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71343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682498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dirty="0"/>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0860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708538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10164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52135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517433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9260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71676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3712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1/29/2026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99375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1/29/2026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24071668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1/29/2026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dirty="0"/>
              <a:t>##%</a:t>
            </a:r>
          </a:p>
        </p:txBody>
      </p:sp>
    </p:spTree>
    <p:extLst>
      <p:ext uri="{BB962C8B-B14F-4D97-AF65-F5344CB8AC3E}">
        <p14:creationId xmlns:p14="http://schemas.microsoft.com/office/powerpoint/2010/main" val="76713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1/29/2026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dirty="0"/>
              <a:t>##%</a:t>
            </a:r>
          </a:p>
        </p:txBody>
      </p:sp>
    </p:spTree>
    <p:extLst>
      <p:ext uri="{BB962C8B-B14F-4D97-AF65-F5344CB8AC3E}">
        <p14:creationId xmlns:p14="http://schemas.microsoft.com/office/powerpoint/2010/main" val="29976010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4800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3627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257941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1/29/2026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0602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1/29/2026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5703295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1/29/2026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7570672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1/29/2026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96931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1/29/2026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758923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1/29/2026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230738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1/29/2026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6423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1/29/2026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09838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1/29/2026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1867294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1/29/2026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879325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1/29/2026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98671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1/29/2026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32475306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9825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1/29/2026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2030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1/29/2026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microsoft.com/office/2018/10/relationships/comments" Target="../comments/modernComment_1BF_90B19D7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EA4D2C-4D5C-AC28-D8CC-859AFF9DBC48}"/>
              </a:ext>
            </a:extLst>
          </p:cNvPr>
          <p:cNvSpPr>
            <a:spLocks noGrp="1"/>
          </p:cNvSpPr>
          <p:nvPr>
            <p:ph type="ctrTitle"/>
          </p:nvPr>
        </p:nvSpPr>
        <p:spPr>
          <a:xfrm>
            <a:off x="6295259" y="1820486"/>
            <a:ext cx="4800600" cy="2762187"/>
          </a:xfrm>
        </p:spPr>
        <p:txBody>
          <a:bodyPr/>
          <a:lstStyle/>
          <a:p>
            <a:r>
              <a:rPr lang="en-US"/>
              <a:t>DevOps</a:t>
            </a:r>
            <a:br>
              <a:rPr lang="en-US"/>
            </a:br>
            <a:r>
              <a:rPr lang="en-US" sz="2400">
                <a:solidFill>
                  <a:schemeClr val="tx1">
                    <a:lumMod val="65000"/>
                  </a:schemeClr>
                </a:solidFill>
              </a:rPr>
              <a:t>An Investigative Presentation</a:t>
            </a:r>
            <a:br>
              <a:rPr lang="en-US"/>
            </a:br>
            <a:endParaRPr lang="en-US"/>
          </a:p>
        </p:txBody>
      </p:sp>
      <p:sp>
        <p:nvSpPr>
          <p:cNvPr id="8" name="Subtitle 7">
            <a:extLst>
              <a:ext uri="{FF2B5EF4-FFF2-40B4-BE49-F238E27FC236}">
                <a16:creationId xmlns:a16="http://schemas.microsoft.com/office/drawing/2014/main" id="{9B102265-8990-D1BC-A9F2-66CA9D922157}"/>
              </a:ext>
            </a:extLst>
          </p:cNvPr>
          <p:cNvSpPr>
            <a:spLocks noGrp="1"/>
          </p:cNvSpPr>
          <p:nvPr>
            <p:ph type="subTitle" idx="1"/>
          </p:nvPr>
        </p:nvSpPr>
        <p:spPr>
          <a:xfrm>
            <a:off x="6295260" y="4714821"/>
            <a:ext cx="3830874" cy="1496616"/>
          </a:xfrm>
        </p:spPr>
        <p:txBody>
          <a:bodyPr/>
          <a:lstStyle/>
          <a:p>
            <a:r>
              <a:rPr lang="en-US">
                <a:solidFill>
                  <a:schemeClr val="tx1">
                    <a:lumMod val="65000"/>
                  </a:schemeClr>
                </a:solidFill>
              </a:rPr>
              <a:t>Charletta </a:t>
            </a:r>
            <a:r>
              <a:rPr lang="en-US">
                <a:solidFill>
                  <a:schemeClr val="bg2">
                    <a:lumMod val="65000"/>
                    <a:lumOff val="35000"/>
                  </a:schemeClr>
                </a:solidFill>
              </a:rPr>
              <a:t>+</a:t>
            </a:r>
            <a:r>
              <a:rPr lang="en-US">
                <a:solidFill>
                  <a:schemeClr val="tx1">
                    <a:lumMod val="65000"/>
                  </a:schemeClr>
                </a:solidFill>
              </a:rPr>
              <a:t> Eder </a:t>
            </a:r>
            <a:r>
              <a:rPr lang="en-US">
                <a:solidFill>
                  <a:schemeClr val="bg2">
                    <a:lumMod val="65000"/>
                    <a:lumOff val="35000"/>
                  </a:schemeClr>
                </a:solidFill>
              </a:rPr>
              <a:t>+</a:t>
            </a:r>
            <a:r>
              <a:rPr lang="en-US">
                <a:solidFill>
                  <a:schemeClr val="tx1">
                    <a:lumMod val="65000"/>
                  </a:schemeClr>
                </a:solidFill>
              </a:rPr>
              <a:t> Joseph</a:t>
            </a:r>
          </a:p>
        </p:txBody>
      </p:sp>
      <p:sp>
        <p:nvSpPr>
          <p:cNvPr id="6" name="Slide Number Placeholder 5">
            <a:extLst>
              <a:ext uri="{FF2B5EF4-FFF2-40B4-BE49-F238E27FC236}">
                <a16:creationId xmlns:a16="http://schemas.microsoft.com/office/drawing/2014/main" id="{564362CF-5CE0-476A-DBD6-C8A0D85BAD5A}"/>
              </a:ext>
            </a:extLst>
          </p:cNvPr>
          <p:cNvSpPr>
            <a:spLocks noGrp="1"/>
          </p:cNvSpPr>
          <p:nvPr>
            <p:ph type="sldNum" sz="quarter" idx="12"/>
          </p:nvPr>
        </p:nvSpPr>
        <p:spPr>
          <a:xfrm>
            <a:off x="11291657" y="214858"/>
            <a:ext cx="555948" cy="338328"/>
          </a:xfrm>
        </p:spPr>
        <p:txBody>
          <a:bodyPr/>
          <a:lstStyle/>
          <a:p>
            <a:fld id="{8E274F5D-21DC-40EF-8DBA-AB9BB119E939}" type="slidenum">
              <a:rPr lang="en-US" smtClean="0"/>
              <a:pPr/>
              <a:t>1</a:t>
            </a:fld>
            <a:endParaRPr lang="en-US"/>
          </a:p>
        </p:txBody>
      </p:sp>
    </p:spTree>
    <p:extLst>
      <p:ext uri="{BB962C8B-B14F-4D97-AF65-F5344CB8AC3E}">
        <p14:creationId xmlns:p14="http://schemas.microsoft.com/office/powerpoint/2010/main" val="148904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C4F63-42BE-2FDA-4D1F-F5CEDFC07758}"/>
              </a:ext>
            </a:extLst>
          </p:cNvPr>
          <p:cNvSpPr>
            <a:spLocks noGrp="1"/>
          </p:cNvSpPr>
          <p:nvPr>
            <p:ph type="title"/>
          </p:nvPr>
        </p:nvSpPr>
        <p:spPr/>
        <p:txBody>
          <a:bodyPr/>
          <a:lstStyle/>
          <a:p>
            <a:r>
              <a:rPr lang="en-US" dirty="0"/>
              <a:t>DevOps</a:t>
            </a:r>
          </a:p>
        </p:txBody>
      </p:sp>
      <p:sp>
        <p:nvSpPr>
          <p:cNvPr id="3" name="Footer Placeholder 2">
            <a:extLst>
              <a:ext uri="{FF2B5EF4-FFF2-40B4-BE49-F238E27FC236}">
                <a16:creationId xmlns:a16="http://schemas.microsoft.com/office/drawing/2014/main" id="{7D502472-6C4F-2FDA-3C92-E3FEBB81E4F6}"/>
              </a:ext>
            </a:extLst>
          </p:cNvPr>
          <p:cNvSpPr>
            <a:spLocks noGrp="1"/>
          </p:cNvSpPr>
          <p:nvPr>
            <p:ph type="ftr" sz="quarter" idx="11"/>
          </p:nvPr>
        </p:nvSpPr>
        <p:spPr/>
        <p:txBody>
          <a:bodyPr/>
          <a:lstStyle/>
          <a:p>
            <a:r>
              <a:rPr lang="en-US" dirty="0"/>
              <a:t>DEVOPS</a:t>
            </a:r>
          </a:p>
        </p:txBody>
      </p:sp>
      <p:sp>
        <p:nvSpPr>
          <p:cNvPr id="4" name="Date Placeholder 3">
            <a:extLst>
              <a:ext uri="{FF2B5EF4-FFF2-40B4-BE49-F238E27FC236}">
                <a16:creationId xmlns:a16="http://schemas.microsoft.com/office/drawing/2014/main" id="{A0019C66-2B96-3F38-596C-A59541FAFA0A}"/>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32612FC9-1765-7290-656E-DA9837F13716}"/>
              </a:ext>
            </a:extLst>
          </p:cNvPr>
          <p:cNvSpPr>
            <a:spLocks noGrp="1"/>
          </p:cNvSpPr>
          <p:nvPr>
            <p:ph type="sldNum" sz="quarter" idx="12"/>
          </p:nvPr>
        </p:nvSpPr>
        <p:spPr/>
        <p:txBody>
          <a:bodyPr/>
          <a:lstStyle/>
          <a:p>
            <a:fld id="{8E274F5D-21DC-40EF-8DBA-AB9BB119E939}" type="slidenum">
              <a:rPr lang="en-US" smtClean="0"/>
              <a:pPr/>
              <a:t>2</a:t>
            </a:fld>
            <a:endParaRPr lang="en-US"/>
          </a:p>
        </p:txBody>
      </p:sp>
      <p:sp>
        <p:nvSpPr>
          <p:cNvPr id="6" name="Content Placeholder 5">
            <a:extLst>
              <a:ext uri="{FF2B5EF4-FFF2-40B4-BE49-F238E27FC236}">
                <a16:creationId xmlns:a16="http://schemas.microsoft.com/office/drawing/2014/main" id="{763917DA-A5EE-A0DE-3CE1-635F15FD64AC}"/>
              </a:ext>
            </a:extLst>
          </p:cNvPr>
          <p:cNvSpPr>
            <a:spLocks noGrp="1"/>
          </p:cNvSpPr>
          <p:nvPr>
            <p:ph idx="1"/>
          </p:nvPr>
        </p:nvSpPr>
        <p:spPr>
          <a:xfrm>
            <a:off x="429417" y="2133600"/>
            <a:ext cx="9942409" cy="4247791"/>
          </a:xfrm>
        </p:spPr>
        <p:txBody>
          <a:bodyPr vert="horz" lIns="91440" tIns="45720" rIns="91440" bIns="45720" rtlCol="0" anchor="t">
            <a:noAutofit/>
          </a:bodyPr>
          <a:lstStyle/>
          <a:p>
            <a:r>
              <a:rPr lang="en-US" sz="2800" dirty="0">
                <a:highlight>
                  <a:srgbClr val="1E1E1E"/>
                </a:highlight>
                <a:latin typeface="Neue Haas Grotesk Text Pro"/>
                <a:ea typeface="+mn-lt"/>
                <a:cs typeface="+mn-lt"/>
              </a:rPr>
              <a:t>DevOps stands for Development and Operations. DevOps specifically unites Development and IT Operations—teams that traditionally work in silos—so they collaborate from design through product release. </a:t>
            </a:r>
            <a:endParaRPr lang="en-US" sz="2800">
              <a:highlight>
                <a:srgbClr val="1E1E1E"/>
              </a:highlight>
              <a:latin typeface="Neue Haas Grotesk Text Pro"/>
            </a:endParaRPr>
          </a:p>
          <a:p>
            <a:endParaRPr lang="en-US" sz="2800" dirty="0">
              <a:solidFill>
                <a:srgbClr val="F5F5FF"/>
              </a:solidFill>
            </a:endParaRPr>
          </a:p>
        </p:txBody>
      </p:sp>
    </p:spTree>
    <p:extLst>
      <p:ext uri="{BB962C8B-B14F-4D97-AF65-F5344CB8AC3E}">
        <p14:creationId xmlns:p14="http://schemas.microsoft.com/office/powerpoint/2010/main" val="2421387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53A7-07AD-A74A-209F-7D2A327E6F18}"/>
              </a:ext>
            </a:extLst>
          </p:cNvPr>
          <p:cNvSpPr>
            <a:spLocks noGrp="1"/>
          </p:cNvSpPr>
          <p:nvPr>
            <p:ph type="title"/>
          </p:nvPr>
        </p:nvSpPr>
        <p:spPr/>
        <p:txBody>
          <a:bodyPr/>
          <a:lstStyle/>
          <a:p>
            <a:r>
              <a:rPr lang="en-US" dirty="0"/>
              <a:t>DevOps Works</a:t>
            </a:r>
          </a:p>
        </p:txBody>
      </p:sp>
      <p:sp>
        <p:nvSpPr>
          <p:cNvPr id="3" name="Footer Placeholder 2">
            <a:extLst>
              <a:ext uri="{FF2B5EF4-FFF2-40B4-BE49-F238E27FC236}">
                <a16:creationId xmlns:a16="http://schemas.microsoft.com/office/drawing/2014/main" id="{33EE32E1-3DED-91F8-07A8-6287C5BA7544}"/>
              </a:ext>
            </a:extLst>
          </p:cNvPr>
          <p:cNvSpPr>
            <a:spLocks noGrp="1"/>
          </p:cNvSpPr>
          <p:nvPr>
            <p:ph type="ftr" sz="quarter" idx="11"/>
          </p:nvPr>
        </p:nvSpPr>
        <p:spPr/>
        <p:txBody>
          <a:bodyPr/>
          <a:lstStyle/>
          <a:p>
            <a:r>
              <a:rPr lang="en-US" dirty="0"/>
              <a:t>DEVOPS</a:t>
            </a:r>
          </a:p>
        </p:txBody>
      </p:sp>
      <p:sp>
        <p:nvSpPr>
          <p:cNvPr id="4" name="Date Placeholder 3">
            <a:extLst>
              <a:ext uri="{FF2B5EF4-FFF2-40B4-BE49-F238E27FC236}">
                <a16:creationId xmlns:a16="http://schemas.microsoft.com/office/drawing/2014/main" id="{8A432FC0-9E29-0FE6-9DEC-F704DFEB76A3}"/>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C45A3A3A-9048-3943-B4C5-5B82A79E51BD}"/>
              </a:ext>
            </a:extLst>
          </p:cNvPr>
          <p:cNvSpPr>
            <a:spLocks noGrp="1"/>
          </p:cNvSpPr>
          <p:nvPr>
            <p:ph type="sldNum" sz="quarter" idx="12"/>
          </p:nvPr>
        </p:nvSpPr>
        <p:spPr/>
        <p:txBody>
          <a:bodyPr/>
          <a:lstStyle/>
          <a:p>
            <a:fld id="{8E274F5D-21DC-40EF-8DBA-AB9BB119E939}" type="slidenum">
              <a:rPr lang="en-US" smtClean="0"/>
              <a:pPr/>
              <a:t>3</a:t>
            </a:fld>
            <a:endParaRPr lang="en-US"/>
          </a:p>
        </p:txBody>
      </p:sp>
      <p:sp>
        <p:nvSpPr>
          <p:cNvPr id="6" name="Content Placeholder 5">
            <a:extLst>
              <a:ext uri="{FF2B5EF4-FFF2-40B4-BE49-F238E27FC236}">
                <a16:creationId xmlns:a16="http://schemas.microsoft.com/office/drawing/2014/main" id="{1CA99EAD-51FE-04B5-6E86-AA90E26A39E7}"/>
              </a:ext>
            </a:extLst>
          </p:cNvPr>
          <p:cNvSpPr>
            <a:spLocks noGrp="1"/>
          </p:cNvSpPr>
          <p:nvPr>
            <p:ph sz="quarter" idx="14"/>
          </p:nvPr>
        </p:nvSpPr>
        <p:spPr>
          <a:xfrm>
            <a:off x="4055522" y="1118755"/>
            <a:ext cx="7518134" cy="1624120"/>
          </a:xfrm>
        </p:spPr>
        <p:txBody>
          <a:bodyPr vert="horz" lIns="91440" tIns="45720" rIns="91440" bIns="45720" rtlCol="0" anchor="t">
            <a:normAutofit/>
          </a:bodyPr>
          <a:lstStyle/>
          <a:p>
            <a:r>
              <a:rPr lang="en-US" dirty="0"/>
              <a:t>The key to DevOps Success is adopting a mindset that values Rapid Feedback and iteration by using the below stages:</a:t>
            </a:r>
          </a:p>
          <a:p>
            <a:endParaRPr lang="en-US" dirty="0">
              <a:solidFill>
                <a:srgbClr val="FFFFFF"/>
              </a:solidFill>
              <a:ea typeface="+mn-lt"/>
              <a:cs typeface="+mn-lt"/>
            </a:endParaRPr>
          </a:p>
          <a:p>
            <a:r>
              <a:rPr lang="en-US" dirty="0">
                <a:solidFill>
                  <a:schemeClr val="accent6"/>
                </a:solidFill>
                <a:ea typeface="+mn-lt"/>
                <a:cs typeface="+mn-lt"/>
              </a:rPr>
              <a:t>Plan </a:t>
            </a:r>
            <a:r>
              <a:rPr lang="en-US" dirty="0">
                <a:solidFill>
                  <a:schemeClr val="accent5"/>
                </a:solidFill>
                <a:ea typeface="+mn-lt"/>
                <a:cs typeface="+mn-lt"/>
              </a:rPr>
              <a:t>→</a:t>
            </a:r>
            <a:r>
              <a:rPr lang="en-US" dirty="0">
                <a:solidFill>
                  <a:schemeClr val="accent6"/>
                </a:solidFill>
                <a:ea typeface="+mn-lt"/>
                <a:cs typeface="+mn-lt"/>
              </a:rPr>
              <a:t> Code </a:t>
            </a:r>
            <a:r>
              <a:rPr lang="en-US" dirty="0">
                <a:solidFill>
                  <a:schemeClr val="accent5"/>
                </a:solidFill>
                <a:ea typeface="+mn-lt"/>
                <a:cs typeface="+mn-lt"/>
              </a:rPr>
              <a:t>→</a:t>
            </a:r>
            <a:r>
              <a:rPr lang="en-US" dirty="0">
                <a:solidFill>
                  <a:schemeClr val="accent6"/>
                </a:solidFill>
                <a:ea typeface="+mn-lt"/>
                <a:cs typeface="+mn-lt"/>
              </a:rPr>
              <a:t> Build </a:t>
            </a:r>
            <a:r>
              <a:rPr lang="en-US" dirty="0">
                <a:solidFill>
                  <a:schemeClr val="accent5"/>
                </a:solidFill>
                <a:ea typeface="+mn-lt"/>
                <a:cs typeface="+mn-lt"/>
              </a:rPr>
              <a:t>→ </a:t>
            </a:r>
            <a:r>
              <a:rPr lang="en-US" dirty="0">
                <a:solidFill>
                  <a:schemeClr val="accent6"/>
                </a:solidFill>
                <a:ea typeface="+mn-lt"/>
                <a:cs typeface="+mn-lt"/>
              </a:rPr>
              <a:t>Test </a:t>
            </a:r>
            <a:r>
              <a:rPr lang="en-US" dirty="0">
                <a:solidFill>
                  <a:schemeClr val="accent5"/>
                </a:solidFill>
                <a:ea typeface="+mn-lt"/>
                <a:cs typeface="+mn-lt"/>
              </a:rPr>
              <a:t>→</a:t>
            </a:r>
            <a:r>
              <a:rPr lang="en-US" dirty="0">
                <a:solidFill>
                  <a:schemeClr val="accent6"/>
                </a:solidFill>
                <a:ea typeface="+mn-lt"/>
                <a:cs typeface="+mn-lt"/>
              </a:rPr>
              <a:t> </a:t>
            </a:r>
            <a:r>
              <a:rPr lang="en-US" i="1" dirty="0">
                <a:solidFill>
                  <a:schemeClr val="accent6"/>
                </a:solidFill>
                <a:ea typeface="+mn-lt"/>
                <a:cs typeface="+mn-lt"/>
              </a:rPr>
              <a:t>Release</a:t>
            </a:r>
            <a:r>
              <a:rPr lang="en-US" i="1" dirty="0">
                <a:solidFill>
                  <a:schemeClr val="accent5"/>
                </a:solidFill>
                <a:ea typeface="+mn-lt"/>
                <a:cs typeface="+mn-lt"/>
              </a:rPr>
              <a:t> </a:t>
            </a:r>
            <a:r>
              <a:rPr lang="en-US" dirty="0">
                <a:solidFill>
                  <a:schemeClr val="accent5"/>
                </a:solidFill>
                <a:ea typeface="+mn-lt"/>
                <a:cs typeface="+mn-lt"/>
              </a:rPr>
              <a:t>→</a:t>
            </a:r>
            <a:r>
              <a:rPr lang="en-US" dirty="0">
                <a:solidFill>
                  <a:schemeClr val="accent6"/>
                </a:solidFill>
                <a:ea typeface="+mn-lt"/>
                <a:cs typeface="+mn-lt"/>
              </a:rPr>
              <a:t> Deploy </a:t>
            </a:r>
            <a:r>
              <a:rPr lang="en-US" dirty="0">
                <a:solidFill>
                  <a:schemeClr val="accent5"/>
                </a:solidFill>
                <a:ea typeface="+mn-lt"/>
                <a:cs typeface="+mn-lt"/>
              </a:rPr>
              <a:t>→ </a:t>
            </a:r>
            <a:r>
              <a:rPr lang="en-US" dirty="0">
                <a:solidFill>
                  <a:schemeClr val="accent6"/>
                </a:solidFill>
                <a:ea typeface="+mn-lt"/>
                <a:cs typeface="+mn-lt"/>
              </a:rPr>
              <a:t>Operate </a:t>
            </a:r>
            <a:r>
              <a:rPr lang="en-US" dirty="0">
                <a:solidFill>
                  <a:schemeClr val="accent5"/>
                </a:solidFill>
                <a:ea typeface="+mn-lt"/>
                <a:cs typeface="+mn-lt"/>
              </a:rPr>
              <a:t>→ </a:t>
            </a:r>
            <a:r>
              <a:rPr lang="en-US" dirty="0">
                <a:solidFill>
                  <a:schemeClr val="accent6"/>
                </a:solidFill>
                <a:ea typeface="+mn-lt"/>
                <a:cs typeface="+mn-lt"/>
              </a:rPr>
              <a:t>Monitor</a:t>
            </a:r>
            <a:r>
              <a:rPr lang="en-US" dirty="0">
                <a:solidFill>
                  <a:schemeClr val="accent5"/>
                </a:solidFill>
                <a:ea typeface="+mn-lt"/>
                <a:cs typeface="+mn-lt"/>
              </a:rPr>
              <a:t> → </a:t>
            </a:r>
            <a:r>
              <a:rPr lang="en-US" dirty="0">
                <a:solidFill>
                  <a:schemeClr val="accent1"/>
                </a:solidFill>
                <a:ea typeface="+mn-lt"/>
                <a:cs typeface="+mn-lt"/>
              </a:rPr>
              <a:t>Repeat</a:t>
            </a:r>
            <a:endParaRPr lang="en-US">
              <a:solidFill>
                <a:schemeClr val="accent1"/>
              </a:solidFill>
            </a:endParaRPr>
          </a:p>
          <a:p>
            <a:endParaRPr lang="en-US" dirty="0"/>
          </a:p>
          <a:p>
            <a:endParaRPr lang="en-US" dirty="0"/>
          </a:p>
        </p:txBody>
      </p:sp>
      <p:sp>
        <p:nvSpPr>
          <p:cNvPr id="11" name="Content Placeholder 5">
            <a:extLst>
              <a:ext uri="{FF2B5EF4-FFF2-40B4-BE49-F238E27FC236}">
                <a16:creationId xmlns:a16="http://schemas.microsoft.com/office/drawing/2014/main" id="{303E3D23-98A7-DD9D-E806-EFB20A715636}"/>
              </a:ext>
            </a:extLst>
          </p:cNvPr>
          <p:cNvSpPr txBox="1">
            <a:spLocks/>
          </p:cNvSpPr>
          <p:nvPr/>
        </p:nvSpPr>
        <p:spPr>
          <a:xfrm>
            <a:off x="4055522" y="3016305"/>
            <a:ext cx="7518134" cy="1106535"/>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1. Plan</a:t>
            </a:r>
            <a:r>
              <a:rPr lang="en-US" sz="1800" b="1" dirty="0">
                <a:highlight>
                  <a:srgbClr val="272727"/>
                </a:highlight>
                <a:ea typeface="+mn-lt"/>
                <a:cs typeface="+mn-lt"/>
              </a:rPr>
              <a:t> </a:t>
            </a:r>
            <a:r>
              <a:rPr lang="en-US" sz="1800" dirty="0">
                <a:highlight>
                  <a:srgbClr val="272727"/>
                </a:highlight>
                <a:ea typeface="+mn-lt"/>
                <a:cs typeface="+mn-lt"/>
              </a:rPr>
              <a:t>Define what to build and how. Includes backlog grooming, user stories, sprint planning, and roadmap work. Requirements and priorities are set here so the rest of the cycle has clear direction.</a:t>
            </a:r>
            <a:endParaRPr lang="en-US" sz="1800" dirty="0"/>
          </a:p>
          <a:p>
            <a:endParaRPr lang="en-US" dirty="0"/>
          </a:p>
          <a:p>
            <a:endParaRPr lang="en-US" dirty="0"/>
          </a:p>
        </p:txBody>
      </p:sp>
      <p:sp>
        <p:nvSpPr>
          <p:cNvPr id="13" name="Content Placeholder 5">
            <a:extLst>
              <a:ext uri="{FF2B5EF4-FFF2-40B4-BE49-F238E27FC236}">
                <a16:creationId xmlns:a16="http://schemas.microsoft.com/office/drawing/2014/main" id="{5FE45B27-29E9-4E67-AC4C-D1045C4C2A43}"/>
              </a:ext>
            </a:extLst>
          </p:cNvPr>
          <p:cNvSpPr txBox="1">
            <a:spLocks/>
          </p:cNvSpPr>
          <p:nvPr/>
        </p:nvSpPr>
        <p:spPr>
          <a:xfrm>
            <a:off x="4049771" y="4505799"/>
            <a:ext cx="7518134" cy="143721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2. Code</a:t>
            </a:r>
            <a:r>
              <a:rPr lang="en-US" sz="1800" b="1" dirty="0">
                <a:highlight>
                  <a:srgbClr val="272727"/>
                </a:highlight>
                <a:ea typeface="+mn-lt"/>
                <a:cs typeface="+mn-lt"/>
              </a:rPr>
              <a:t> </a:t>
            </a:r>
            <a:r>
              <a:rPr lang="en-US" sz="1800" dirty="0">
                <a:highlight>
                  <a:srgbClr val="272727"/>
                </a:highlight>
                <a:ea typeface="+mn-lt"/>
                <a:cs typeface="+mn-lt"/>
              </a:rPr>
              <a:t>Developers write and change application code. They work in branches, use version control (e.g. Git), follow coding standards, and do peer review (e.g. pull/merge requests) before merging into the main line.</a:t>
            </a:r>
            <a:endParaRPr lang="en-US" sz="1800">
              <a:ea typeface="+mn-lt"/>
              <a:cs typeface="+mn-lt"/>
            </a:endParaRPr>
          </a:p>
          <a:p>
            <a:endParaRPr lang="en-US" dirty="0"/>
          </a:p>
          <a:p>
            <a:endParaRPr lang="en-US" dirty="0"/>
          </a:p>
        </p:txBody>
      </p:sp>
      <p:pic>
        <p:nvPicPr>
          <p:cNvPr id="7" name="Picture 6">
            <a:extLst>
              <a:ext uri="{FF2B5EF4-FFF2-40B4-BE49-F238E27FC236}">
                <a16:creationId xmlns:a16="http://schemas.microsoft.com/office/drawing/2014/main" id="{C101B53C-F694-B30B-AFF8-50F6C18A83C9}"/>
              </a:ext>
            </a:extLst>
          </p:cNvPr>
          <p:cNvPicPr>
            <a:picLocks noChangeAspect="1"/>
          </p:cNvPicPr>
          <p:nvPr/>
        </p:nvPicPr>
        <p:blipFill>
          <a:blip r:embed="rId2"/>
          <a:stretch>
            <a:fillRect/>
          </a:stretch>
        </p:blipFill>
        <p:spPr>
          <a:xfrm>
            <a:off x="176213" y="2074332"/>
            <a:ext cx="3584576" cy="252306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395079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53A7-07AD-A74A-209F-7D2A327E6F18}"/>
              </a:ext>
            </a:extLst>
          </p:cNvPr>
          <p:cNvSpPr>
            <a:spLocks noGrp="1"/>
          </p:cNvSpPr>
          <p:nvPr>
            <p:ph type="title"/>
          </p:nvPr>
        </p:nvSpPr>
        <p:spPr/>
        <p:txBody>
          <a:bodyPr/>
          <a:lstStyle/>
          <a:p>
            <a:r>
              <a:rPr lang="en-US" dirty="0"/>
              <a:t>DevOps Works</a:t>
            </a:r>
          </a:p>
        </p:txBody>
      </p:sp>
      <p:sp>
        <p:nvSpPr>
          <p:cNvPr id="3" name="Footer Placeholder 2">
            <a:extLst>
              <a:ext uri="{FF2B5EF4-FFF2-40B4-BE49-F238E27FC236}">
                <a16:creationId xmlns:a16="http://schemas.microsoft.com/office/drawing/2014/main" id="{33EE32E1-3DED-91F8-07A8-6287C5BA7544}"/>
              </a:ext>
            </a:extLst>
          </p:cNvPr>
          <p:cNvSpPr>
            <a:spLocks noGrp="1"/>
          </p:cNvSpPr>
          <p:nvPr>
            <p:ph type="ftr" sz="quarter" idx="11"/>
          </p:nvPr>
        </p:nvSpPr>
        <p:spPr/>
        <p:txBody>
          <a:bodyPr/>
          <a:lstStyle/>
          <a:p>
            <a:r>
              <a:rPr lang="en-US" dirty="0"/>
              <a:t>DEVOPS</a:t>
            </a:r>
          </a:p>
        </p:txBody>
      </p:sp>
      <p:sp>
        <p:nvSpPr>
          <p:cNvPr id="4" name="Date Placeholder 3">
            <a:extLst>
              <a:ext uri="{FF2B5EF4-FFF2-40B4-BE49-F238E27FC236}">
                <a16:creationId xmlns:a16="http://schemas.microsoft.com/office/drawing/2014/main" id="{8A432FC0-9E29-0FE6-9DEC-F704DFEB76A3}"/>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C45A3A3A-9048-3943-B4C5-5B82A79E51BD}"/>
              </a:ext>
            </a:extLst>
          </p:cNvPr>
          <p:cNvSpPr>
            <a:spLocks noGrp="1"/>
          </p:cNvSpPr>
          <p:nvPr>
            <p:ph type="sldNum" sz="quarter" idx="12"/>
          </p:nvPr>
        </p:nvSpPr>
        <p:spPr/>
        <p:txBody>
          <a:bodyPr/>
          <a:lstStyle/>
          <a:p>
            <a:fld id="{8E274F5D-21DC-40EF-8DBA-AB9BB119E939}" type="slidenum">
              <a:rPr lang="en-US" smtClean="0"/>
              <a:pPr/>
              <a:t>4</a:t>
            </a:fld>
            <a:endParaRPr lang="en-US"/>
          </a:p>
        </p:txBody>
      </p:sp>
      <p:sp>
        <p:nvSpPr>
          <p:cNvPr id="6" name="Content Placeholder 5">
            <a:extLst>
              <a:ext uri="{FF2B5EF4-FFF2-40B4-BE49-F238E27FC236}">
                <a16:creationId xmlns:a16="http://schemas.microsoft.com/office/drawing/2014/main" id="{1CA99EAD-51FE-04B5-6E86-AA90E26A39E7}"/>
              </a:ext>
            </a:extLst>
          </p:cNvPr>
          <p:cNvSpPr>
            <a:spLocks noGrp="1"/>
          </p:cNvSpPr>
          <p:nvPr>
            <p:ph sz="quarter" idx="14"/>
          </p:nvPr>
        </p:nvSpPr>
        <p:spPr>
          <a:xfrm>
            <a:off x="425631" y="1714500"/>
            <a:ext cx="2738317" cy="2801755"/>
          </a:xfrm>
        </p:spPr>
        <p:txBody>
          <a:bodyPr vert="horz" lIns="91440" tIns="45720" rIns="91440" bIns="45720" rtlCol="0" anchor="t">
            <a:normAutofit/>
          </a:bodyPr>
          <a:lstStyle/>
          <a:p>
            <a:r>
              <a:rPr lang="en-US" dirty="0">
                <a:solidFill>
                  <a:schemeClr val="tx1">
                    <a:lumMod val="76000"/>
                  </a:schemeClr>
                </a:solidFill>
              </a:rPr>
              <a:t>The key to DevOps Success is adopting a mindset that values Rapid Feedback and Iteration by using the below stages:</a:t>
            </a:r>
          </a:p>
          <a:p>
            <a:endParaRPr lang="en-US" dirty="0">
              <a:solidFill>
                <a:srgbClr val="FFFFFF"/>
              </a:solidFill>
              <a:ea typeface="+mn-lt"/>
              <a:cs typeface="+mn-lt"/>
            </a:endParaRPr>
          </a:p>
          <a:p>
            <a:r>
              <a:rPr lang="en-US" dirty="0">
                <a:solidFill>
                  <a:schemeClr val="accent6"/>
                </a:solidFill>
                <a:ea typeface="+mn-lt"/>
                <a:cs typeface="+mn-lt"/>
              </a:rPr>
              <a:t>Plan </a:t>
            </a:r>
            <a:r>
              <a:rPr lang="en-US" dirty="0">
                <a:solidFill>
                  <a:schemeClr val="accent5"/>
                </a:solidFill>
                <a:ea typeface="+mn-lt"/>
                <a:cs typeface="+mn-lt"/>
              </a:rPr>
              <a:t>→</a:t>
            </a:r>
            <a:r>
              <a:rPr lang="en-US" dirty="0">
                <a:solidFill>
                  <a:schemeClr val="accent6"/>
                </a:solidFill>
                <a:ea typeface="+mn-lt"/>
                <a:cs typeface="+mn-lt"/>
              </a:rPr>
              <a:t> Code </a:t>
            </a:r>
            <a:r>
              <a:rPr lang="en-US" dirty="0">
                <a:solidFill>
                  <a:schemeClr val="accent5"/>
                </a:solidFill>
                <a:ea typeface="+mn-lt"/>
                <a:cs typeface="+mn-lt"/>
              </a:rPr>
              <a:t>→</a:t>
            </a:r>
            <a:r>
              <a:rPr lang="en-US" dirty="0">
                <a:solidFill>
                  <a:schemeClr val="accent6"/>
                </a:solidFill>
                <a:ea typeface="+mn-lt"/>
                <a:cs typeface="+mn-lt"/>
              </a:rPr>
              <a:t> Build </a:t>
            </a:r>
            <a:r>
              <a:rPr lang="en-US" dirty="0">
                <a:solidFill>
                  <a:schemeClr val="accent5"/>
                </a:solidFill>
                <a:ea typeface="+mn-lt"/>
                <a:cs typeface="+mn-lt"/>
              </a:rPr>
              <a:t>→ </a:t>
            </a:r>
            <a:r>
              <a:rPr lang="en-US" dirty="0">
                <a:solidFill>
                  <a:schemeClr val="accent6"/>
                </a:solidFill>
                <a:ea typeface="+mn-lt"/>
                <a:cs typeface="+mn-lt"/>
              </a:rPr>
              <a:t>Test </a:t>
            </a:r>
            <a:r>
              <a:rPr lang="en-US" dirty="0">
                <a:solidFill>
                  <a:schemeClr val="accent5"/>
                </a:solidFill>
                <a:ea typeface="+mn-lt"/>
                <a:cs typeface="+mn-lt"/>
              </a:rPr>
              <a:t>→</a:t>
            </a:r>
            <a:r>
              <a:rPr lang="en-US" dirty="0">
                <a:solidFill>
                  <a:schemeClr val="accent6"/>
                </a:solidFill>
                <a:ea typeface="+mn-lt"/>
                <a:cs typeface="+mn-lt"/>
              </a:rPr>
              <a:t> </a:t>
            </a:r>
            <a:r>
              <a:rPr lang="en-US" u="sng" dirty="0">
                <a:solidFill>
                  <a:schemeClr val="accent6"/>
                </a:solidFill>
                <a:ea typeface="+mn-lt"/>
                <a:cs typeface="+mn-lt"/>
              </a:rPr>
              <a:t>Release</a:t>
            </a:r>
            <a:r>
              <a:rPr lang="en-US" u="sng" dirty="0">
                <a:solidFill>
                  <a:schemeClr val="accent5"/>
                </a:solidFill>
                <a:ea typeface="+mn-lt"/>
                <a:cs typeface="+mn-lt"/>
              </a:rPr>
              <a:t> </a:t>
            </a:r>
            <a:r>
              <a:rPr lang="en-US" dirty="0">
                <a:solidFill>
                  <a:schemeClr val="accent5"/>
                </a:solidFill>
                <a:ea typeface="+mn-lt"/>
                <a:cs typeface="+mn-lt"/>
              </a:rPr>
              <a:t>→</a:t>
            </a:r>
            <a:r>
              <a:rPr lang="en-US" dirty="0">
                <a:solidFill>
                  <a:schemeClr val="accent6"/>
                </a:solidFill>
                <a:ea typeface="+mn-lt"/>
                <a:cs typeface="+mn-lt"/>
              </a:rPr>
              <a:t> Deploy </a:t>
            </a:r>
            <a:r>
              <a:rPr lang="en-US" dirty="0">
                <a:solidFill>
                  <a:schemeClr val="accent5"/>
                </a:solidFill>
                <a:ea typeface="+mn-lt"/>
                <a:cs typeface="+mn-lt"/>
              </a:rPr>
              <a:t>→ </a:t>
            </a:r>
            <a:r>
              <a:rPr lang="en-US" dirty="0">
                <a:solidFill>
                  <a:schemeClr val="accent6"/>
                </a:solidFill>
                <a:ea typeface="+mn-lt"/>
                <a:cs typeface="+mn-lt"/>
              </a:rPr>
              <a:t>Operate </a:t>
            </a:r>
            <a:r>
              <a:rPr lang="en-US" dirty="0">
                <a:solidFill>
                  <a:schemeClr val="accent5"/>
                </a:solidFill>
                <a:ea typeface="+mn-lt"/>
                <a:cs typeface="+mn-lt"/>
              </a:rPr>
              <a:t>→ </a:t>
            </a:r>
            <a:r>
              <a:rPr lang="en-US" dirty="0">
                <a:solidFill>
                  <a:schemeClr val="accent6"/>
                </a:solidFill>
                <a:ea typeface="+mn-lt"/>
                <a:cs typeface="+mn-lt"/>
              </a:rPr>
              <a:t>Monitor</a:t>
            </a:r>
            <a:r>
              <a:rPr lang="en-US" dirty="0">
                <a:solidFill>
                  <a:schemeClr val="accent5"/>
                </a:solidFill>
                <a:ea typeface="+mn-lt"/>
                <a:cs typeface="+mn-lt"/>
              </a:rPr>
              <a:t> → </a:t>
            </a:r>
            <a:r>
              <a:rPr lang="en-US" dirty="0">
                <a:solidFill>
                  <a:schemeClr val="accent1"/>
                </a:solidFill>
                <a:ea typeface="+mn-lt"/>
                <a:cs typeface="+mn-lt"/>
              </a:rPr>
              <a:t>Repeat</a:t>
            </a:r>
            <a:endParaRPr lang="en-US">
              <a:solidFill>
                <a:schemeClr val="accent1"/>
              </a:solidFill>
            </a:endParaRPr>
          </a:p>
          <a:p>
            <a:endParaRPr lang="en-US" dirty="0"/>
          </a:p>
          <a:p>
            <a:endParaRPr lang="en-US" dirty="0"/>
          </a:p>
        </p:txBody>
      </p:sp>
      <p:sp>
        <p:nvSpPr>
          <p:cNvPr id="11" name="Content Placeholder 5">
            <a:extLst>
              <a:ext uri="{FF2B5EF4-FFF2-40B4-BE49-F238E27FC236}">
                <a16:creationId xmlns:a16="http://schemas.microsoft.com/office/drawing/2014/main" id="{303E3D23-98A7-DD9D-E806-EFB20A715636}"/>
              </a:ext>
            </a:extLst>
          </p:cNvPr>
          <p:cNvSpPr txBox="1">
            <a:spLocks/>
          </p:cNvSpPr>
          <p:nvPr/>
        </p:nvSpPr>
        <p:spPr>
          <a:xfrm>
            <a:off x="4055522" y="1118232"/>
            <a:ext cx="7518134" cy="1106535"/>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3. Build </a:t>
            </a:r>
            <a:r>
              <a:rPr lang="en-US" sz="1800" dirty="0">
                <a:highlight>
                  <a:srgbClr val="272727"/>
                </a:highlight>
                <a:ea typeface="+mn-lt"/>
                <a:cs typeface="+mn-lt"/>
              </a:rPr>
              <a:t>Source code is turned into runnable artifacts. A build system compiles code, runs basic checks, and produces outputs (e.g. binaries, containers, packages). This is often triggered automatically when code is merged (CI).</a:t>
            </a:r>
            <a:endParaRPr lang="en-US" sz="1800"/>
          </a:p>
          <a:p>
            <a:endParaRPr lang="en-US" dirty="0"/>
          </a:p>
          <a:p>
            <a:endParaRPr lang="en-US" dirty="0"/>
          </a:p>
        </p:txBody>
      </p:sp>
      <p:sp>
        <p:nvSpPr>
          <p:cNvPr id="13" name="Content Placeholder 5">
            <a:extLst>
              <a:ext uri="{FF2B5EF4-FFF2-40B4-BE49-F238E27FC236}">
                <a16:creationId xmlns:a16="http://schemas.microsoft.com/office/drawing/2014/main" id="{5FE45B27-29E9-4E67-AC4C-D1045C4C2A43}"/>
              </a:ext>
            </a:extLst>
          </p:cNvPr>
          <p:cNvSpPr txBox="1">
            <a:spLocks/>
          </p:cNvSpPr>
          <p:nvPr/>
        </p:nvSpPr>
        <p:spPr>
          <a:xfrm>
            <a:off x="4049771" y="3120344"/>
            <a:ext cx="7518134" cy="143721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4. Test </a:t>
            </a:r>
            <a:r>
              <a:rPr lang="en-US" sz="1800" dirty="0">
                <a:highlight>
                  <a:srgbClr val="272727"/>
                </a:highlight>
                <a:ea typeface="+mn-lt"/>
                <a:cs typeface="+mn-lt"/>
              </a:rPr>
              <a:t>Automated and sometimes manual checks to verify quality and behavior. Includes unit tests, integration tests, security scans, performance tests, etc. Failures can block the change from moving to release/deploy.</a:t>
            </a:r>
            <a:endParaRPr lang="en-US" sz="1800">
              <a:ea typeface="+mn-lt"/>
              <a:cs typeface="+mn-lt"/>
            </a:endParaRPr>
          </a:p>
          <a:p>
            <a:endParaRPr lang="en-US" dirty="0"/>
          </a:p>
          <a:p>
            <a:endParaRPr lang="en-US" dirty="0"/>
          </a:p>
        </p:txBody>
      </p:sp>
      <p:sp>
        <p:nvSpPr>
          <p:cNvPr id="8" name="Content Placeholder 5">
            <a:extLst>
              <a:ext uri="{FF2B5EF4-FFF2-40B4-BE49-F238E27FC236}">
                <a16:creationId xmlns:a16="http://schemas.microsoft.com/office/drawing/2014/main" id="{057968BC-0AD1-0EB5-AD8A-BBD7F141B680}"/>
              </a:ext>
            </a:extLst>
          </p:cNvPr>
          <p:cNvSpPr txBox="1">
            <a:spLocks/>
          </p:cNvSpPr>
          <p:nvPr/>
        </p:nvSpPr>
        <p:spPr>
          <a:xfrm>
            <a:off x="4049771" y="4990708"/>
            <a:ext cx="7518134" cy="143721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5. Release</a:t>
            </a:r>
            <a:r>
              <a:rPr lang="en-US" sz="1800" b="1" dirty="0">
                <a:highlight>
                  <a:srgbClr val="272727"/>
                </a:highlight>
                <a:ea typeface="+mn-lt"/>
                <a:cs typeface="+mn-lt"/>
              </a:rPr>
              <a:t> </a:t>
            </a:r>
            <a:r>
              <a:rPr lang="en-US" sz="1800" dirty="0">
                <a:highlight>
                  <a:srgbClr val="272727"/>
                </a:highlight>
                <a:ea typeface="+mn-lt"/>
                <a:cs typeface="+mn-lt"/>
              </a:rPr>
              <a:t>The change is approved and prepared for production. Release management handles versioning, release notes, change approval (if required), and staging the exact artifacts and config that will go to production.</a:t>
            </a:r>
            <a:endParaRPr lang="en-US" sz="1800">
              <a:ea typeface="+mn-lt"/>
              <a:cs typeface="+mn-lt"/>
            </a:endParaRPr>
          </a:p>
          <a:p>
            <a:endParaRPr lang="en-US" dirty="0"/>
          </a:p>
          <a:p>
            <a:endParaRPr lang="en-US" dirty="0"/>
          </a:p>
        </p:txBody>
      </p:sp>
    </p:spTree>
    <p:extLst>
      <p:ext uri="{BB962C8B-B14F-4D97-AF65-F5344CB8AC3E}">
        <p14:creationId xmlns:p14="http://schemas.microsoft.com/office/powerpoint/2010/main" val="750281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B9403-05FA-8C7C-71C5-6EDF17BB9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57C61-168E-1B49-32BA-7B7EAE2354BE}"/>
              </a:ext>
            </a:extLst>
          </p:cNvPr>
          <p:cNvSpPr>
            <a:spLocks noGrp="1"/>
          </p:cNvSpPr>
          <p:nvPr>
            <p:ph type="title"/>
          </p:nvPr>
        </p:nvSpPr>
        <p:spPr/>
        <p:txBody>
          <a:bodyPr/>
          <a:lstStyle/>
          <a:p>
            <a:r>
              <a:rPr lang="en-US" dirty="0"/>
              <a:t>DevOps Works</a:t>
            </a:r>
          </a:p>
        </p:txBody>
      </p:sp>
      <p:sp>
        <p:nvSpPr>
          <p:cNvPr id="3" name="Footer Placeholder 2">
            <a:extLst>
              <a:ext uri="{FF2B5EF4-FFF2-40B4-BE49-F238E27FC236}">
                <a16:creationId xmlns:a16="http://schemas.microsoft.com/office/drawing/2014/main" id="{7603FE02-DD99-03A5-6C17-EC441B46981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E7CF94E6-F6BF-2313-B2FE-C3809951A309}"/>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831264FC-B004-E015-207D-5901C5A0A5E0}"/>
              </a:ext>
            </a:extLst>
          </p:cNvPr>
          <p:cNvSpPr>
            <a:spLocks noGrp="1"/>
          </p:cNvSpPr>
          <p:nvPr>
            <p:ph type="sldNum" sz="quarter" idx="12"/>
          </p:nvPr>
        </p:nvSpPr>
        <p:spPr/>
        <p:txBody>
          <a:bodyPr/>
          <a:lstStyle/>
          <a:p>
            <a:fld id="{8E274F5D-21DC-40EF-8DBA-AB9BB119E939}" type="slidenum">
              <a:rPr lang="en-US" smtClean="0"/>
              <a:pPr/>
              <a:t>5</a:t>
            </a:fld>
            <a:endParaRPr lang="en-US"/>
          </a:p>
        </p:txBody>
      </p:sp>
      <p:sp>
        <p:nvSpPr>
          <p:cNvPr id="6" name="Content Placeholder 5">
            <a:extLst>
              <a:ext uri="{FF2B5EF4-FFF2-40B4-BE49-F238E27FC236}">
                <a16:creationId xmlns:a16="http://schemas.microsoft.com/office/drawing/2014/main" id="{B0B75946-6BBF-A907-C7F1-B4908AE53471}"/>
              </a:ext>
            </a:extLst>
          </p:cNvPr>
          <p:cNvSpPr>
            <a:spLocks noGrp="1"/>
          </p:cNvSpPr>
          <p:nvPr>
            <p:ph sz="quarter" idx="14"/>
          </p:nvPr>
        </p:nvSpPr>
        <p:spPr>
          <a:xfrm>
            <a:off x="425631" y="1714500"/>
            <a:ext cx="2738317" cy="2801755"/>
          </a:xfrm>
        </p:spPr>
        <p:txBody>
          <a:bodyPr vert="horz" lIns="91440" tIns="45720" rIns="91440" bIns="45720" rtlCol="0" anchor="t">
            <a:normAutofit/>
          </a:bodyPr>
          <a:lstStyle/>
          <a:p>
            <a:r>
              <a:rPr lang="en-US" dirty="0">
                <a:solidFill>
                  <a:schemeClr val="tx1">
                    <a:lumMod val="76000"/>
                  </a:schemeClr>
                </a:solidFill>
              </a:rPr>
              <a:t>The key to DevOps Success is adopting a mindset that values Rapid Feedback and Iteration by using the below stages:</a:t>
            </a:r>
          </a:p>
          <a:p>
            <a:endParaRPr lang="en-US" dirty="0">
              <a:solidFill>
                <a:srgbClr val="FFFFFF"/>
              </a:solidFill>
              <a:ea typeface="+mn-lt"/>
              <a:cs typeface="+mn-lt"/>
            </a:endParaRPr>
          </a:p>
          <a:p>
            <a:r>
              <a:rPr lang="en-US" dirty="0">
                <a:solidFill>
                  <a:schemeClr val="accent6"/>
                </a:solidFill>
                <a:ea typeface="+mn-lt"/>
                <a:cs typeface="+mn-lt"/>
              </a:rPr>
              <a:t>Plan </a:t>
            </a:r>
            <a:r>
              <a:rPr lang="en-US" dirty="0">
                <a:solidFill>
                  <a:schemeClr val="accent5"/>
                </a:solidFill>
                <a:ea typeface="+mn-lt"/>
                <a:cs typeface="+mn-lt"/>
              </a:rPr>
              <a:t>→</a:t>
            </a:r>
            <a:r>
              <a:rPr lang="en-US" dirty="0">
                <a:solidFill>
                  <a:schemeClr val="accent6"/>
                </a:solidFill>
                <a:ea typeface="+mn-lt"/>
                <a:cs typeface="+mn-lt"/>
              </a:rPr>
              <a:t> Code </a:t>
            </a:r>
            <a:r>
              <a:rPr lang="en-US" dirty="0">
                <a:solidFill>
                  <a:schemeClr val="accent5"/>
                </a:solidFill>
                <a:ea typeface="+mn-lt"/>
                <a:cs typeface="+mn-lt"/>
              </a:rPr>
              <a:t>→</a:t>
            </a:r>
            <a:r>
              <a:rPr lang="en-US" dirty="0">
                <a:solidFill>
                  <a:schemeClr val="accent6"/>
                </a:solidFill>
                <a:ea typeface="+mn-lt"/>
                <a:cs typeface="+mn-lt"/>
              </a:rPr>
              <a:t> Build </a:t>
            </a:r>
            <a:r>
              <a:rPr lang="en-US" dirty="0">
                <a:solidFill>
                  <a:schemeClr val="accent5"/>
                </a:solidFill>
                <a:ea typeface="+mn-lt"/>
                <a:cs typeface="+mn-lt"/>
              </a:rPr>
              <a:t>→ </a:t>
            </a:r>
            <a:r>
              <a:rPr lang="en-US" dirty="0">
                <a:solidFill>
                  <a:schemeClr val="accent6"/>
                </a:solidFill>
                <a:ea typeface="+mn-lt"/>
                <a:cs typeface="+mn-lt"/>
              </a:rPr>
              <a:t>Test </a:t>
            </a:r>
            <a:r>
              <a:rPr lang="en-US" dirty="0">
                <a:solidFill>
                  <a:schemeClr val="accent5"/>
                </a:solidFill>
                <a:ea typeface="+mn-lt"/>
                <a:cs typeface="+mn-lt"/>
              </a:rPr>
              <a:t>→</a:t>
            </a:r>
            <a:r>
              <a:rPr lang="en-US" dirty="0">
                <a:solidFill>
                  <a:schemeClr val="accent6"/>
                </a:solidFill>
                <a:ea typeface="+mn-lt"/>
                <a:cs typeface="+mn-lt"/>
              </a:rPr>
              <a:t> </a:t>
            </a:r>
            <a:r>
              <a:rPr lang="en-US" u="sng" dirty="0">
                <a:solidFill>
                  <a:schemeClr val="accent6"/>
                </a:solidFill>
                <a:ea typeface="+mn-lt"/>
                <a:cs typeface="+mn-lt"/>
              </a:rPr>
              <a:t>Release</a:t>
            </a:r>
            <a:r>
              <a:rPr lang="en-US" u="sng" dirty="0">
                <a:solidFill>
                  <a:schemeClr val="accent5"/>
                </a:solidFill>
                <a:ea typeface="+mn-lt"/>
                <a:cs typeface="+mn-lt"/>
              </a:rPr>
              <a:t> </a:t>
            </a:r>
            <a:r>
              <a:rPr lang="en-US" dirty="0">
                <a:solidFill>
                  <a:schemeClr val="accent5"/>
                </a:solidFill>
                <a:ea typeface="+mn-lt"/>
                <a:cs typeface="+mn-lt"/>
              </a:rPr>
              <a:t>→</a:t>
            </a:r>
            <a:r>
              <a:rPr lang="en-US" dirty="0">
                <a:solidFill>
                  <a:schemeClr val="accent6"/>
                </a:solidFill>
                <a:ea typeface="+mn-lt"/>
                <a:cs typeface="+mn-lt"/>
              </a:rPr>
              <a:t> Deploy </a:t>
            </a:r>
            <a:r>
              <a:rPr lang="en-US" dirty="0">
                <a:solidFill>
                  <a:schemeClr val="accent5"/>
                </a:solidFill>
                <a:ea typeface="+mn-lt"/>
                <a:cs typeface="+mn-lt"/>
              </a:rPr>
              <a:t>→ </a:t>
            </a:r>
            <a:r>
              <a:rPr lang="en-US" dirty="0">
                <a:solidFill>
                  <a:schemeClr val="accent6"/>
                </a:solidFill>
                <a:ea typeface="+mn-lt"/>
                <a:cs typeface="+mn-lt"/>
              </a:rPr>
              <a:t>Operate </a:t>
            </a:r>
            <a:r>
              <a:rPr lang="en-US" dirty="0">
                <a:solidFill>
                  <a:schemeClr val="accent5"/>
                </a:solidFill>
                <a:ea typeface="+mn-lt"/>
                <a:cs typeface="+mn-lt"/>
              </a:rPr>
              <a:t>→ </a:t>
            </a:r>
            <a:r>
              <a:rPr lang="en-US" dirty="0">
                <a:solidFill>
                  <a:schemeClr val="accent6"/>
                </a:solidFill>
                <a:ea typeface="+mn-lt"/>
                <a:cs typeface="+mn-lt"/>
              </a:rPr>
              <a:t>Monitor</a:t>
            </a:r>
            <a:r>
              <a:rPr lang="en-US" dirty="0">
                <a:solidFill>
                  <a:schemeClr val="accent5"/>
                </a:solidFill>
                <a:ea typeface="+mn-lt"/>
                <a:cs typeface="+mn-lt"/>
              </a:rPr>
              <a:t> → </a:t>
            </a:r>
            <a:r>
              <a:rPr lang="en-US" dirty="0">
                <a:solidFill>
                  <a:schemeClr val="accent1"/>
                </a:solidFill>
                <a:ea typeface="+mn-lt"/>
                <a:cs typeface="+mn-lt"/>
              </a:rPr>
              <a:t>Repeat</a:t>
            </a:r>
            <a:endParaRPr lang="en-US">
              <a:solidFill>
                <a:schemeClr val="accent1"/>
              </a:solidFill>
            </a:endParaRPr>
          </a:p>
          <a:p>
            <a:endParaRPr lang="en-US" dirty="0"/>
          </a:p>
          <a:p>
            <a:endParaRPr lang="en-US" dirty="0"/>
          </a:p>
        </p:txBody>
      </p:sp>
      <p:sp>
        <p:nvSpPr>
          <p:cNvPr id="11" name="Content Placeholder 5">
            <a:extLst>
              <a:ext uri="{FF2B5EF4-FFF2-40B4-BE49-F238E27FC236}">
                <a16:creationId xmlns:a16="http://schemas.microsoft.com/office/drawing/2014/main" id="{729E35C5-EF2B-7A2E-EF64-586EDC561628}"/>
              </a:ext>
            </a:extLst>
          </p:cNvPr>
          <p:cNvSpPr txBox="1">
            <a:spLocks/>
          </p:cNvSpPr>
          <p:nvPr/>
        </p:nvSpPr>
        <p:spPr>
          <a:xfrm>
            <a:off x="4055522" y="1118232"/>
            <a:ext cx="7518134" cy="1106535"/>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6. Deploy </a:t>
            </a:r>
            <a:r>
              <a:rPr lang="en-US" sz="1800" dirty="0">
                <a:highlight>
                  <a:srgbClr val="272727"/>
                </a:highlight>
                <a:ea typeface="+mn-lt"/>
                <a:cs typeface="+mn-lt"/>
              </a:rPr>
              <a:t>The approved release is rolled out to target environments (e.g. production). Deployment can be automated (CD) and may use blue/green, canary, or rolling strategies to reduce risk and enable quick rollback.</a:t>
            </a:r>
            <a:endParaRPr lang="en-US" sz="1800"/>
          </a:p>
          <a:p>
            <a:endParaRPr lang="en-US" dirty="0"/>
          </a:p>
          <a:p>
            <a:endParaRPr lang="en-US" dirty="0"/>
          </a:p>
        </p:txBody>
      </p:sp>
      <p:sp>
        <p:nvSpPr>
          <p:cNvPr id="13" name="Content Placeholder 5">
            <a:extLst>
              <a:ext uri="{FF2B5EF4-FFF2-40B4-BE49-F238E27FC236}">
                <a16:creationId xmlns:a16="http://schemas.microsoft.com/office/drawing/2014/main" id="{2B0EB191-E22A-F7C5-F726-F91F1B0C3E4A}"/>
              </a:ext>
            </a:extLst>
          </p:cNvPr>
          <p:cNvSpPr txBox="1">
            <a:spLocks/>
          </p:cNvSpPr>
          <p:nvPr/>
        </p:nvSpPr>
        <p:spPr>
          <a:xfrm>
            <a:off x="4049771" y="2801689"/>
            <a:ext cx="7518134" cy="143721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7. Operate</a:t>
            </a:r>
            <a:r>
              <a:rPr lang="en-US" sz="1800" b="1" dirty="0">
                <a:highlight>
                  <a:srgbClr val="272727"/>
                </a:highlight>
                <a:ea typeface="+mn-lt"/>
                <a:cs typeface="+mn-lt"/>
              </a:rPr>
              <a:t> </a:t>
            </a:r>
            <a:r>
              <a:rPr lang="en-US" sz="1800" dirty="0">
                <a:highlight>
                  <a:srgbClr val="272727"/>
                </a:highlight>
                <a:ea typeface="+mn-lt"/>
                <a:cs typeface="+mn-lt"/>
              </a:rPr>
              <a:t>Day-to-day running of the system in production: keeping services up, handling incidents, doing routine operations (restarts, scaling, config changes), and coordinating with support and users.</a:t>
            </a:r>
            <a:endParaRPr lang="en-US" sz="1800">
              <a:ea typeface="+mn-lt"/>
              <a:cs typeface="+mn-lt"/>
            </a:endParaRPr>
          </a:p>
          <a:p>
            <a:endParaRPr lang="en-US" dirty="0"/>
          </a:p>
          <a:p>
            <a:endParaRPr lang="en-US" dirty="0"/>
          </a:p>
        </p:txBody>
      </p:sp>
      <p:sp>
        <p:nvSpPr>
          <p:cNvPr id="8" name="Content Placeholder 5">
            <a:extLst>
              <a:ext uri="{FF2B5EF4-FFF2-40B4-BE49-F238E27FC236}">
                <a16:creationId xmlns:a16="http://schemas.microsoft.com/office/drawing/2014/main" id="{BD4A40FE-BCEB-6554-2464-FE0152F761CE}"/>
              </a:ext>
            </a:extLst>
          </p:cNvPr>
          <p:cNvSpPr txBox="1">
            <a:spLocks/>
          </p:cNvSpPr>
          <p:nvPr/>
        </p:nvSpPr>
        <p:spPr>
          <a:xfrm>
            <a:off x="4049771" y="4242563"/>
            <a:ext cx="7518134" cy="1437214"/>
          </a:xfrm>
          <a:prstGeom prst="rect">
            <a:avLst/>
          </a:prstGeom>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272727"/>
                </a:highlight>
                <a:ea typeface="+mn-lt"/>
                <a:cs typeface="+mn-lt"/>
              </a:rPr>
              <a:t>8. Monitor </a:t>
            </a:r>
            <a:r>
              <a:rPr lang="en-US" sz="1800" dirty="0">
                <a:highlight>
                  <a:srgbClr val="272727"/>
                </a:highlight>
                <a:ea typeface="+mn-lt"/>
                <a:cs typeface="+mn-lt"/>
              </a:rPr>
              <a:t>Observing how the system and business processes behave in production. Uses metrics, logs, traces, and alerts to detect issues, measure performance, and understand usage. </a:t>
            </a:r>
            <a:br>
              <a:rPr lang="en-US" sz="1800" dirty="0">
                <a:highlight>
                  <a:srgbClr val="272727"/>
                </a:highlight>
                <a:ea typeface="+mn-lt"/>
                <a:cs typeface="+mn-lt"/>
              </a:rPr>
            </a:br>
            <a:endParaRPr lang="en-US" sz="1800" dirty="0">
              <a:highlight>
                <a:srgbClr val="272727"/>
              </a:highlight>
              <a:ea typeface="+mn-lt"/>
              <a:cs typeface="+mn-lt"/>
            </a:endParaRPr>
          </a:p>
          <a:p>
            <a:r>
              <a:rPr lang="en-US" sz="1800" dirty="0">
                <a:highlight>
                  <a:srgbClr val="272727"/>
                </a:highlight>
                <a:ea typeface="+mn-lt"/>
                <a:cs typeface="+mn-lt"/>
              </a:rPr>
              <a:t>Findings feed back into </a:t>
            </a:r>
            <a:r>
              <a:rPr lang="en-US" sz="1800" b="1" dirty="0">
                <a:highlight>
                  <a:srgbClr val="272727"/>
                </a:highlight>
                <a:ea typeface="+mn-lt"/>
                <a:cs typeface="+mn-lt"/>
              </a:rPr>
              <a:t>Plan.</a:t>
            </a:r>
            <a:endParaRPr lang="en-US" sz="1800" dirty="0">
              <a:highlight>
                <a:srgbClr val="272727"/>
              </a:highlight>
            </a:endParaRPr>
          </a:p>
          <a:p>
            <a:endParaRPr lang="en-US" dirty="0"/>
          </a:p>
        </p:txBody>
      </p:sp>
    </p:spTree>
    <p:extLst>
      <p:ext uri="{BB962C8B-B14F-4D97-AF65-F5344CB8AC3E}">
        <p14:creationId xmlns:p14="http://schemas.microsoft.com/office/powerpoint/2010/main" val="2945327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CBDD-55AB-7496-8FA8-EE324D1EFE25}"/>
              </a:ext>
            </a:extLst>
          </p:cNvPr>
          <p:cNvSpPr>
            <a:spLocks noGrp="1"/>
          </p:cNvSpPr>
          <p:nvPr>
            <p:ph type="title"/>
          </p:nvPr>
        </p:nvSpPr>
        <p:spPr>
          <a:xfrm>
            <a:off x="1447800" y="1428827"/>
            <a:ext cx="2971800" cy="3192118"/>
          </a:xfrm>
        </p:spPr>
        <p:txBody>
          <a:bodyPr/>
          <a:lstStyle/>
          <a:p>
            <a:r>
              <a:rPr lang="en-US" dirty="0"/>
              <a:t>DevOps Environment</a:t>
            </a:r>
          </a:p>
        </p:txBody>
      </p:sp>
      <p:sp>
        <p:nvSpPr>
          <p:cNvPr id="3" name="Footer Placeholder 2">
            <a:extLst>
              <a:ext uri="{FF2B5EF4-FFF2-40B4-BE49-F238E27FC236}">
                <a16:creationId xmlns:a16="http://schemas.microsoft.com/office/drawing/2014/main" id="{36A03E15-6E56-9467-831E-22F8EB669D81}"/>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6C9AC0C0-DD28-2E83-62E2-46C477CAC508}"/>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3EC30586-C934-C64B-6892-14CF479849DF}"/>
              </a:ext>
            </a:extLst>
          </p:cNvPr>
          <p:cNvSpPr>
            <a:spLocks noGrp="1"/>
          </p:cNvSpPr>
          <p:nvPr>
            <p:ph type="sldNum" sz="quarter" idx="12"/>
          </p:nvPr>
        </p:nvSpPr>
        <p:spPr/>
        <p:txBody>
          <a:bodyPr/>
          <a:lstStyle/>
          <a:p>
            <a:fld id="{8E274F5D-21DC-40EF-8DBA-AB9BB119E939}" type="slidenum">
              <a:rPr lang="en-US" smtClean="0"/>
              <a:pPr/>
              <a:t>6</a:t>
            </a:fld>
            <a:endParaRPr lang="en-US"/>
          </a:p>
        </p:txBody>
      </p:sp>
      <p:sp>
        <p:nvSpPr>
          <p:cNvPr id="6" name="Content Placeholder 5">
            <a:extLst>
              <a:ext uri="{FF2B5EF4-FFF2-40B4-BE49-F238E27FC236}">
                <a16:creationId xmlns:a16="http://schemas.microsoft.com/office/drawing/2014/main" id="{E4ADA725-EB1F-E3A5-2BAE-A8FCD622913E}"/>
              </a:ext>
            </a:extLst>
          </p:cNvPr>
          <p:cNvSpPr>
            <a:spLocks noGrp="1"/>
          </p:cNvSpPr>
          <p:nvPr>
            <p:ph sz="quarter" idx="13"/>
          </p:nvPr>
        </p:nvSpPr>
        <p:spPr>
          <a:xfrm>
            <a:off x="4838700" y="1428828"/>
            <a:ext cx="5189220" cy="1466835"/>
          </a:xfrm>
        </p:spPr>
        <p:txBody>
          <a:bodyPr vert="horz" lIns="91440" tIns="45720" rIns="91440" bIns="45720" rtlCol="0" anchor="t">
            <a:normAutofit/>
          </a:bodyPr>
          <a:lstStyle/>
          <a:p>
            <a:r>
              <a:rPr lang="en-US" sz="2400" b="1">
                <a:solidFill>
                  <a:schemeClr val="accent4"/>
                </a:solidFill>
                <a:ea typeface="+mn-lt"/>
                <a:cs typeface="+mn-lt"/>
              </a:rPr>
              <a:t>Frequent Releases:</a:t>
            </a:r>
            <a:r>
              <a:rPr lang="en-US" sz="2400">
                <a:solidFill>
                  <a:schemeClr val="accent4"/>
                </a:solidFill>
                <a:ea typeface="+mn-lt"/>
                <a:cs typeface="+mn-lt"/>
              </a:rPr>
              <a:t> </a:t>
            </a:r>
            <a:r>
              <a:rPr lang="en-US" sz="2400">
                <a:solidFill>
                  <a:srgbClr val="F5F5FF"/>
                </a:solidFill>
                <a:ea typeface="+mn-lt"/>
                <a:cs typeface="+mn-lt"/>
              </a:rPr>
              <a:t>A Need to </a:t>
            </a:r>
            <a:r>
              <a:rPr lang="en-US" sz="2400" dirty="0">
                <a:solidFill>
                  <a:srgbClr val="F5F5FF"/>
                </a:solidFill>
                <a:ea typeface="+mn-lt"/>
                <a:cs typeface="+mn-lt"/>
              </a:rPr>
              <a:t>deploy daily, weekly, or multiple times per day</a:t>
            </a:r>
            <a:endParaRPr lang="en-US" sz="2400"/>
          </a:p>
          <a:p>
            <a:endParaRPr lang="en-US" sz="2700" dirty="0">
              <a:solidFill>
                <a:srgbClr val="F5F5FF"/>
              </a:solidFill>
            </a:endParaRPr>
          </a:p>
        </p:txBody>
      </p:sp>
      <p:sp>
        <p:nvSpPr>
          <p:cNvPr id="8" name="Content Placeholder 5">
            <a:extLst>
              <a:ext uri="{FF2B5EF4-FFF2-40B4-BE49-F238E27FC236}">
                <a16:creationId xmlns:a16="http://schemas.microsoft.com/office/drawing/2014/main" id="{7EFABB66-8325-D20B-EF56-30055A25F2A8}"/>
              </a:ext>
            </a:extLst>
          </p:cNvPr>
          <p:cNvSpPr txBox="1">
            <a:spLocks/>
          </p:cNvSpPr>
          <p:nvPr/>
        </p:nvSpPr>
        <p:spPr>
          <a:xfrm>
            <a:off x="4818572" y="3018964"/>
            <a:ext cx="5189220" cy="1466835"/>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lang="en-US" sz="1400" kern="1200" dirty="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a:solidFill>
                  <a:schemeClr val="accent4"/>
                </a:solidFill>
                <a:ea typeface="+mn-lt"/>
                <a:cs typeface="+mn-lt"/>
              </a:rPr>
              <a:t>Agile Development Teams</a:t>
            </a:r>
            <a:r>
              <a:rPr lang="en-US" sz="2400" b="1" dirty="0">
                <a:solidFill>
                  <a:schemeClr val="accent4"/>
                </a:solidFill>
                <a:ea typeface="+mn-lt"/>
                <a:cs typeface="+mn-lt"/>
              </a:rPr>
              <a:t>:</a:t>
            </a:r>
            <a:r>
              <a:rPr lang="en-US" sz="2400" dirty="0">
                <a:solidFill>
                  <a:schemeClr val="accent4"/>
                </a:solidFill>
                <a:ea typeface="+mn-lt"/>
                <a:cs typeface="+mn-lt"/>
              </a:rPr>
              <a:t> </a:t>
            </a:r>
            <a:r>
              <a:rPr lang="en-US" sz="2400">
                <a:solidFill>
                  <a:srgbClr val="F5F5FF"/>
                </a:solidFill>
                <a:ea typeface="+mn-lt"/>
                <a:cs typeface="+mn-lt"/>
              </a:rPr>
              <a:t>Already practicing iterative development methodologies</a:t>
            </a:r>
            <a:endParaRPr lang="en-US" sz="2400"/>
          </a:p>
          <a:p>
            <a:endParaRPr lang="en-US" sz="2700">
              <a:solidFill>
                <a:srgbClr val="F5F5FF"/>
              </a:solidFill>
            </a:endParaRPr>
          </a:p>
        </p:txBody>
      </p:sp>
      <p:sp>
        <p:nvSpPr>
          <p:cNvPr id="10" name="Content Placeholder 5">
            <a:extLst>
              <a:ext uri="{FF2B5EF4-FFF2-40B4-BE49-F238E27FC236}">
                <a16:creationId xmlns:a16="http://schemas.microsoft.com/office/drawing/2014/main" id="{881164F3-B89B-A7B7-E2C3-144BBA670579}"/>
              </a:ext>
            </a:extLst>
          </p:cNvPr>
          <p:cNvSpPr txBox="1">
            <a:spLocks/>
          </p:cNvSpPr>
          <p:nvPr/>
        </p:nvSpPr>
        <p:spPr>
          <a:xfrm>
            <a:off x="4818572" y="4614851"/>
            <a:ext cx="5189220" cy="1466835"/>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lang="en-US" sz="1400" kern="1200" dirty="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lang="en-US"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a:solidFill>
                  <a:schemeClr val="accent4"/>
                </a:solidFill>
                <a:ea typeface="+mn-lt"/>
                <a:cs typeface="+mn-lt"/>
              </a:rPr>
              <a:t>Cloud-Native Organizations</a:t>
            </a:r>
            <a:r>
              <a:rPr lang="en-US" sz="2400" b="1" dirty="0">
                <a:solidFill>
                  <a:schemeClr val="accent4"/>
                </a:solidFill>
                <a:ea typeface="+mn-lt"/>
                <a:cs typeface="+mn-lt"/>
              </a:rPr>
              <a:t>:</a:t>
            </a:r>
            <a:r>
              <a:rPr lang="en-US" sz="2400" dirty="0">
                <a:solidFill>
                  <a:srgbClr val="F5F5FF"/>
                </a:solidFill>
                <a:ea typeface="+mn-lt"/>
                <a:cs typeface="+mn-lt"/>
              </a:rPr>
              <a:t> </a:t>
            </a:r>
            <a:r>
              <a:rPr lang="en-US" sz="2400">
                <a:solidFill>
                  <a:srgbClr val="F5F5FF"/>
                </a:solidFill>
                <a:ea typeface="+mn-lt"/>
                <a:cs typeface="+mn-lt"/>
              </a:rPr>
              <a:t>Using AWS</a:t>
            </a:r>
            <a:r>
              <a:rPr lang="en-US" sz="2400" dirty="0">
                <a:solidFill>
                  <a:srgbClr val="F5F5FF"/>
                </a:solidFill>
                <a:ea typeface="+mn-lt"/>
                <a:cs typeface="+mn-lt"/>
              </a:rPr>
              <a:t>, </a:t>
            </a:r>
            <a:r>
              <a:rPr lang="en-US" sz="2400">
                <a:solidFill>
                  <a:srgbClr val="F5F5FF"/>
                </a:solidFill>
                <a:ea typeface="+mn-lt"/>
                <a:cs typeface="+mn-lt"/>
              </a:rPr>
              <a:t>Azure</a:t>
            </a:r>
            <a:r>
              <a:rPr lang="en-US" sz="2400" dirty="0">
                <a:solidFill>
                  <a:srgbClr val="F5F5FF"/>
                </a:solidFill>
                <a:ea typeface="+mn-lt"/>
                <a:cs typeface="+mn-lt"/>
              </a:rPr>
              <a:t>, or </a:t>
            </a:r>
            <a:r>
              <a:rPr lang="en-US" sz="2400">
                <a:solidFill>
                  <a:srgbClr val="F5F5FF"/>
                </a:solidFill>
                <a:ea typeface="+mn-lt"/>
                <a:cs typeface="+mn-lt"/>
              </a:rPr>
              <a:t>GCP for scalable infrastructure</a:t>
            </a:r>
            <a:endParaRPr lang="en-US" sz="2400"/>
          </a:p>
          <a:p>
            <a:endParaRPr lang="en-US" sz="2700">
              <a:solidFill>
                <a:srgbClr val="F5F5FF"/>
              </a:solidFill>
            </a:endParaRPr>
          </a:p>
        </p:txBody>
      </p:sp>
      <p:pic>
        <p:nvPicPr>
          <p:cNvPr id="7" name="Picture 6" descr="How I deploy my Azure Lab Environments | Jake Walsh">
            <a:extLst>
              <a:ext uri="{FF2B5EF4-FFF2-40B4-BE49-F238E27FC236}">
                <a16:creationId xmlns:a16="http://schemas.microsoft.com/office/drawing/2014/main" id="{E98E3FF9-A2AB-D508-D69E-19314721DD4D}"/>
              </a:ext>
            </a:extLst>
          </p:cNvPr>
          <p:cNvPicPr>
            <a:picLocks noChangeAspect="1"/>
          </p:cNvPicPr>
          <p:nvPr/>
        </p:nvPicPr>
        <p:blipFill>
          <a:blip r:embed="rId2"/>
          <a:stretch>
            <a:fillRect/>
          </a:stretch>
        </p:blipFill>
        <p:spPr>
          <a:xfrm>
            <a:off x="187442" y="2503135"/>
            <a:ext cx="4516967" cy="29241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6596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EEFB3-D6D9-6167-D476-C24ED0A8F7E3}"/>
              </a:ext>
            </a:extLst>
          </p:cNvPr>
          <p:cNvSpPr>
            <a:spLocks noGrp="1"/>
          </p:cNvSpPr>
          <p:nvPr>
            <p:ph type="title"/>
          </p:nvPr>
        </p:nvSpPr>
        <p:spPr/>
        <p:txBody>
          <a:bodyPr/>
          <a:lstStyle/>
          <a:p>
            <a:r>
              <a:rPr lang="en-US" dirty="0"/>
              <a:t>DevOps Advantages</a:t>
            </a:r>
          </a:p>
        </p:txBody>
      </p:sp>
      <p:sp>
        <p:nvSpPr>
          <p:cNvPr id="3" name="Footer Placeholder 2">
            <a:extLst>
              <a:ext uri="{FF2B5EF4-FFF2-40B4-BE49-F238E27FC236}">
                <a16:creationId xmlns:a16="http://schemas.microsoft.com/office/drawing/2014/main" id="{9E3EDFA5-FAAA-0AFA-F7FA-21A2D0C3FB3D}"/>
              </a:ext>
            </a:extLst>
          </p:cNvPr>
          <p:cNvSpPr>
            <a:spLocks noGrp="1"/>
          </p:cNvSpPr>
          <p:nvPr>
            <p:ph type="ftr" sz="quarter" idx="11"/>
          </p:nvPr>
        </p:nvSpPr>
        <p:spPr/>
        <p:txBody>
          <a:bodyPr/>
          <a:lstStyle/>
          <a:p>
            <a:r>
              <a:rPr lang="en-US" dirty="0"/>
              <a:t>DEVOPS</a:t>
            </a:r>
          </a:p>
        </p:txBody>
      </p:sp>
      <p:sp>
        <p:nvSpPr>
          <p:cNvPr id="4" name="Date Placeholder 3">
            <a:extLst>
              <a:ext uri="{FF2B5EF4-FFF2-40B4-BE49-F238E27FC236}">
                <a16:creationId xmlns:a16="http://schemas.microsoft.com/office/drawing/2014/main" id="{11064708-1564-3EC6-4B20-228B21A55BBB}"/>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1FE8EF7E-D515-B411-1DA4-E804D022B1BF}"/>
              </a:ext>
            </a:extLst>
          </p:cNvPr>
          <p:cNvSpPr>
            <a:spLocks noGrp="1"/>
          </p:cNvSpPr>
          <p:nvPr>
            <p:ph type="sldNum" sz="quarter" idx="12"/>
          </p:nvPr>
        </p:nvSpPr>
        <p:spPr/>
        <p:txBody>
          <a:bodyPr/>
          <a:lstStyle/>
          <a:p>
            <a:fld id="{8E274F5D-21DC-40EF-8DBA-AB9BB119E939}" type="slidenum">
              <a:rPr lang="en-US" smtClean="0"/>
              <a:pPr/>
              <a:t>7</a:t>
            </a:fld>
            <a:endParaRPr lang="en-US"/>
          </a:p>
        </p:txBody>
      </p:sp>
      <p:sp>
        <p:nvSpPr>
          <p:cNvPr id="6" name="Content Placeholder 5">
            <a:extLst>
              <a:ext uri="{FF2B5EF4-FFF2-40B4-BE49-F238E27FC236}">
                <a16:creationId xmlns:a16="http://schemas.microsoft.com/office/drawing/2014/main" id="{97CDAF39-0961-7A28-21B7-2A93E67A72D1}"/>
              </a:ext>
            </a:extLst>
          </p:cNvPr>
          <p:cNvSpPr>
            <a:spLocks noGrp="1"/>
          </p:cNvSpPr>
          <p:nvPr>
            <p:ph idx="1"/>
          </p:nvPr>
        </p:nvSpPr>
        <p:spPr>
          <a:xfrm>
            <a:off x="429417" y="2018582"/>
            <a:ext cx="9942409" cy="897865"/>
          </a:xfrm>
        </p:spPr>
        <p:txBody>
          <a:bodyPr vert="horz" lIns="91440" tIns="45720" rIns="91440" bIns="45720" rtlCol="0" anchor="t">
            <a:noAutofit/>
          </a:bodyPr>
          <a:lstStyle/>
          <a:p>
            <a:r>
              <a:rPr lang="en-US" sz="1800" b="1" dirty="0">
                <a:solidFill>
                  <a:schemeClr val="accent3"/>
                </a:solidFill>
                <a:highlight>
                  <a:srgbClr val="1E1E1E"/>
                </a:highlight>
                <a:latin typeface="Neue Haas Grotesk Text Pro"/>
              </a:rPr>
              <a:t>Faster process</a:t>
            </a:r>
            <a:r>
              <a:rPr lang="en-US" sz="1800" dirty="0">
                <a:highlight>
                  <a:srgbClr val="1E1E1E"/>
                </a:highlight>
                <a:latin typeface="Neue Haas Grotesk Text Pro"/>
              </a:rPr>
              <a:t>—multiple activities run simultaneously so work is completed on time and organizations can scale and meet business goals </a:t>
            </a:r>
            <a:endParaRPr lang="en-US" sz="1800" dirty="0">
              <a:latin typeface="Neue Haas Grotesk Text Pro"/>
            </a:endParaRPr>
          </a:p>
          <a:p>
            <a:endParaRPr lang="en-US" dirty="0"/>
          </a:p>
        </p:txBody>
      </p:sp>
      <p:sp>
        <p:nvSpPr>
          <p:cNvPr id="8" name="Content Placeholder 5">
            <a:extLst>
              <a:ext uri="{FF2B5EF4-FFF2-40B4-BE49-F238E27FC236}">
                <a16:creationId xmlns:a16="http://schemas.microsoft.com/office/drawing/2014/main" id="{41F9F7E3-4167-7E72-E6D2-09FBEBA2DCDA}"/>
              </a:ext>
            </a:extLst>
          </p:cNvPr>
          <p:cNvSpPr txBox="1">
            <a:spLocks/>
          </p:cNvSpPr>
          <p:nvPr/>
        </p:nvSpPr>
        <p:spPr>
          <a:xfrm>
            <a:off x="438043" y="3019246"/>
            <a:ext cx="9928032" cy="825979"/>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1E1E1E"/>
                </a:highlight>
                <a:latin typeface="Neue Haas Grotesk Text Pro"/>
              </a:rPr>
              <a:t>Rapid deliveries</a:t>
            </a:r>
            <a:r>
              <a:rPr lang="en-US" sz="1800" dirty="0">
                <a:highlight>
                  <a:srgbClr val="1E1E1E"/>
                </a:highlight>
                <a:latin typeface="Neue Haas Grotesk Text Pro"/>
              </a:rPr>
              <a:t>—microservices and continuous deployment support business continuity and timely updates; teams can keep innovating and improving the product</a:t>
            </a:r>
            <a:endParaRPr lang="en-US" sz="1800">
              <a:highlight>
                <a:srgbClr val="1E1E1E"/>
              </a:highlight>
              <a:latin typeface="Neue Haas Grotesk Text Pro"/>
            </a:endParaRPr>
          </a:p>
          <a:p>
            <a:endParaRPr lang="en-US" sz="1100" dirty="0">
              <a:solidFill>
                <a:srgbClr val="C5C8C6"/>
              </a:solidFill>
              <a:highlight>
                <a:srgbClr val="1E1E1E"/>
              </a:highlight>
              <a:latin typeface="Consolas"/>
            </a:endParaRPr>
          </a:p>
          <a:p>
            <a:endParaRPr lang="en-US" dirty="0"/>
          </a:p>
        </p:txBody>
      </p:sp>
      <p:sp>
        <p:nvSpPr>
          <p:cNvPr id="10" name="Content Placeholder 5">
            <a:extLst>
              <a:ext uri="{FF2B5EF4-FFF2-40B4-BE49-F238E27FC236}">
                <a16:creationId xmlns:a16="http://schemas.microsoft.com/office/drawing/2014/main" id="{6BBCE61C-77A1-10F6-0CA5-6D40D8E7F211}"/>
              </a:ext>
            </a:extLst>
          </p:cNvPr>
          <p:cNvSpPr txBox="1">
            <a:spLocks/>
          </p:cNvSpPr>
          <p:nvPr/>
        </p:nvSpPr>
        <p:spPr>
          <a:xfrm>
            <a:off x="423666" y="4068793"/>
            <a:ext cx="9928032" cy="940997"/>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solidFill>
                  <a:schemeClr val="accent3"/>
                </a:solidFill>
                <a:highlight>
                  <a:srgbClr val="1E1E1E"/>
                </a:highlight>
                <a:latin typeface="Neue Haas Grotesk Text Pro"/>
              </a:rPr>
              <a:t>Reliability</a:t>
            </a:r>
            <a:r>
              <a:rPr lang="en-US" sz="1800" dirty="0">
                <a:highlight>
                  <a:srgbClr val="1E1E1E"/>
                </a:highlight>
                <a:latin typeface="Neue Haas Grotesk Text Pro"/>
              </a:rPr>
              <a:t>—as product and infrastructure evolve, outcomes tend to be more robust and secure, with a collaborative structure built on clear accountability and ownership</a:t>
            </a:r>
            <a:endParaRPr lang="en-US" sz="1800">
              <a:highlight>
                <a:srgbClr val="1E1E1E"/>
              </a:highlight>
              <a:latin typeface="Neue Haas Grotesk Text Pro"/>
            </a:endParaRPr>
          </a:p>
          <a:p>
            <a:endParaRPr lang="en-US" sz="1800" dirty="0">
              <a:highlight>
                <a:srgbClr val="1E1E1E"/>
              </a:highlight>
              <a:latin typeface="Neue Haas Grotesk Text Pro"/>
            </a:endParaRPr>
          </a:p>
          <a:p>
            <a:endParaRPr lang="en-US" dirty="0"/>
          </a:p>
        </p:txBody>
      </p:sp>
      <p:sp>
        <p:nvSpPr>
          <p:cNvPr id="12" name="Content Placeholder 5">
            <a:extLst>
              <a:ext uri="{FF2B5EF4-FFF2-40B4-BE49-F238E27FC236}">
                <a16:creationId xmlns:a16="http://schemas.microsoft.com/office/drawing/2014/main" id="{35C5ED30-FCE5-8A74-276E-425AA9E74FA5}"/>
              </a:ext>
            </a:extLst>
          </p:cNvPr>
          <p:cNvSpPr txBox="1">
            <a:spLocks/>
          </p:cNvSpPr>
          <p:nvPr/>
        </p:nvSpPr>
        <p:spPr>
          <a:xfrm>
            <a:off x="423666" y="5635925"/>
            <a:ext cx="9928032" cy="1012884"/>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i="1" dirty="0">
                <a:highlight>
                  <a:srgbClr val="1E1E1E"/>
                </a:highlight>
                <a:latin typeface="Neue Haas Grotesk Text Pro"/>
              </a:rPr>
              <a:t>Efficient communication between dev and ops shortens the path from build and test to release</a:t>
            </a:r>
          </a:p>
          <a:p>
            <a:endParaRPr lang="en-US" sz="1100" dirty="0">
              <a:solidFill>
                <a:srgbClr val="C5C8C6"/>
              </a:solidFill>
              <a:highlight>
                <a:srgbClr val="1E1E1E"/>
              </a:highlight>
              <a:latin typeface="Consolas"/>
            </a:endParaRPr>
          </a:p>
          <a:p>
            <a:endParaRPr lang="en-US" dirty="0"/>
          </a:p>
        </p:txBody>
      </p:sp>
    </p:spTree>
    <p:extLst>
      <p:ext uri="{BB962C8B-B14F-4D97-AF65-F5344CB8AC3E}">
        <p14:creationId xmlns:p14="http://schemas.microsoft.com/office/powerpoint/2010/main" val="332595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A4372-4CC4-FE8C-7A15-AC42A8E7C1B3}"/>
              </a:ext>
            </a:extLst>
          </p:cNvPr>
          <p:cNvSpPr>
            <a:spLocks noGrp="1"/>
          </p:cNvSpPr>
          <p:nvPr>
            <p:ph type="title"/>
          </p:nvPr>
        </p:nvSpPr>
        <p:spPr/>
        <p:txBody>
          <a:bodyPr/>
          <a:lstStyle/>
          <a:p>
            <a:r>
              <a:rPr lang="en-US" dirty="0"/>
              <a:t>DevOps Disadvantages</a:t>
            </a:r>
          </a:p>
        </p:txBody>
      </p:sp>
      <p:sp>
        <p:nvSpPr>
          <p:cNvPr id="3" name="Footer Placeholder 2">
            <a:extLst>
              <a:ext uri="{FF2B5EF4-FFF2-40B4-BE49-F238E27FC236}">
                <a16:creationId xmlns:a16="http://schemas.microsoft.com/office/drawing/2014/main" id="{1C516A11-AB83-CE48-2685-6325F73D70A9}"/>
              </a:ext>
            </a:extLst>
          </p:cNvPr>
          <p:cNvSpPr>
            <a:spLocks noGrp="1"/>
          </p:cNvSpPr>
          <p:nvPr>
            <p:ph type="ftr" sz="quarter" idx="11"/>
          </p:nvPr>
        </p:nvSpPr>
        <p:spPr/>
        <p:txBody>
          <a:bodyPr/>
          <a:lstStyle/>
          <a:p>
            <a:r>
              <a:rPr lang="en-US" dirty="0"/>
              <a:t>DEVOPS</a:t>
            </a:r>
          </a:p>
        </p:txBody>
      </p:sp>
      <p:sp>
        <p:nvSpPr>
          <p:cNvPr id="4" name="Date Placeholder 3">
            <a:extLst>
              <a:ext uri="{FF2B5EF4-FFF2-40B4-BE49-F238E27FC236}">
                <a16:creationId xmlns:a16="http://schemas.microsoft.com/office/drawing/2014/main" id="{B706C495-B3DC-B1FF-7B35-84ED765057A9}"/>
              </a:ext>
            </a:extLst>
          </p:cNvPr>
          <p:cNvSpPr>
            <a:spLocks noGrp="1"/>
          </p:cNvSpPr>
          <p:nvPr>
            <p:ph type="dt" sz="half" idx="10"/>
          </p:nvPr>
        </p:nvSpPr>
        <p:spPr/>
        <p:txBody>
          <a:bodyPr/>
          <a:lstStyle/>
          <a:p>
            <a:fld id="{44BE14B8-5058-4271-B378-2217DE83796E}" type="datetime1">
              <a:rPr lang="en-US" smtClean="0"/>
              <a:pPr/>
              <a:t>1/29/2026</a:t>
            </a:fld>
            <a:endParaRPr lang="en-US"/>
          </a:p>
        </p:txBody>
      </p:sp>
      <p:sp>
        <p:nvSpPr>
          <p:cNvPr id="5" name="Slide Number Placeholder 4">
            <a:extLst>
              <a:ext uri="{FF2B5EF4-FFF2-40B4-BE49-F238E27FC236}">
                <a16:creationId xmlns:a16="http://schemas.microsoft.com/office/drawing/2014/main" id="{1D11B39B-A079-FA69-DCB9-4CCF5F997965}"/>
              </a:ext>
            </a:extLst>
          </p:cNvPr>
          <p:cNvSpPr>
            <a:spLocks noGrp="1"/>
          </p:cNvSpPr>
          <p:nvPr>
            <p:ph type="sldNum" sz="quarter" idx="12"/>
          </p:nvPr>
        </p:nvSpPr>
        <p:spPr/>
        <p:txBody>
          <a:bodyPr/>
          <a:lstStyle/>
          <a:p>
            <a:fld id="{8E274F5D-21DC-40EF-8DBA-AB9BB119E939}" type="slidenum">
              <a:rPr lang="en-US" smtClean="0"/>
              <a:pPr/>
              <a:t>8</a:t>
            </a:fld>
            <a:endParaRPr lang="en-US"/>
          </a:p>
        </p:txBody>
      </p:sp>
      <p:sp>
        <p:nvSpPr>
          <p:cNvPr id="6" name="Content Placeholder 5">
            <a:extLst>
              <a:ext uri="{FF2B5EF4-FFF2-40B4-BE49-F238E27FC236}">
                <a16:creationId xmlns:a16="http://schemas.microsoft.com/office/drawing/2014/main" id="{65899297-67BC-22D7-4AF4-BFC0CEF4463A}"/>
              </a:ext>
            </a:extLst>
          </p:cNvPr>
          <p:cNvSpPr>
            <a:spLocks noGrp="1"/>
          </p:cNvSpPr>
          <p:nvPr>
            <p:ph idx="1"/>
          </p:nvPr>
        </p:nvSpPr>
        <p:spPr>
          <a:xfrm>
            <a:off x="429417" y="1989827"/>
            <a:ext cx="9942409" cy="883489"/>
          </a:xfrm>
        </p:spPr>
        <p:txBody>
          <a:bodyPr vert="horz" lIns="91440" tIns="45720" rIns="91440" bIns="45720" rtlCol="0" anchor="t">
            <a:normAutofit/>
          </a:bodyPr>
          <a:lstStyle/>
          <a:p>
            <a:r>
              <a:rPr lang="en-US" sz="1800" dirty="0">
                <a:highlight>
                  <a:srgbClr val="1E1E1E"/>
                </a:highlight>
                <a:ea typeface="+mn-lt"/>
                <a:cs typeface="+mn-lt"/>
              </a:rPr>
              <a:t>It takes time to set up tools and pipelines</a:t>
            </a:r>
            <a:endParaRPr lang="en-US" dirty="0"/>
          </a:p>
        </p:txBody>
      </p:sp>
      <p:sp>
        <p:nvSpPr>
          <p:cNvPr id="8" name="Content Placeholder 5">
            <a:extLst>
              <a:ext uri="{FF2B5EF4-FFF2-40B4-BE49-F238E27FC236}">
                <a16:creationId xmlns:a16="http://schemas.microsoft.com/office/drawing/2014/main" id="{0D3942DB-5BF6-F13A-04B9-1565C7FEFA92}"/>
              </a:ext>
            </a:extLst>
          </p:cNvPr>
          <p:cNvSpPr txBox="1">
            <a:spLocks/>
          </p:cNvSpPr>
          <p:nvPr/>
        </p:nvSpPr>
        <p:spPr>
          <a:xfrm>
            <a:off x="409289" y="2947359"/>
            <a:ext cx="9942409" cy="969753"/>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pPr>
            <a:r>
              <a:rPr lang="en-US" sz="1800" dirty="0">
                <a:highlight>
                  <a:srgbClr val="1E1E1E"/>
                </a:highlight>
                <a:ea typeface="+mn-lt"/>
                <a:cs typeface="+mn-lt"/>
              </a:rPr>
              <a:t>DevOps can be hard to learn at first</a:t>
            </a:r>
            <a:endParaRPr lang="en-US" dirty="0"/>
          </a:p>
          <a:p>
            <a:endParaRPr lang="en-US" sz="1100" dirty="0">
              <a:solidFill>
                <a:srgbClr val="C5C8C6"/>
              </a:solidFill>
              <a:highlight>
                <a:srgbClr val="1E1E1E"/>
              </a:highlight>
              <a:latin typeface="Consolas"/>
            </a:endParaRPr>
          </a:p>
        </p:txBody>
      </p:sp>
      <p:sp>
        <p:nvSpPr>
          <p:cNvPr id="9" name="Content Placeholder 5">
            <a:extLst>
              <a:ext uri="{FF2B5EF4-FFF2-40B4-BE49-F238E27FC236}">
                <a16:creationId xmlns:a16="http://schemas.microsoft.com/office/drawing/2014/main" id="{A65DEE7F-F1FB-85DC-EFA1-ED839C4EB0AC}"/>
              </a:ext>
            </a:extLst>
          </p:cNvPr>
          <p:cNvSpPr txBox="1">
            <a:spLocks/>
          </p:cNvSpPr>
          <p:nvPr/>
        </p:nvSpPr>
        <p:spPr>
          <a:xfrm>
            <a:off x="438043" y="3925020"/>
            <a:ext cx="9928032" cy="912243"/>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highlight>
                  <a:srgbClr val="1E1E1E"/>
                </a:highlight>
                <a:ea typeface="+mn-lt"/>
                <a:cs typeface="+mn-lt"/>
              </a:rPr>
              <a:t>Teams may need new skills they don’t have yet</a:t>
            </a:r>
            <a:endParaRPr lang="en-US" dirty="0"/>
          </a:p>
          <a:p>
            <a:endParaRPr lang="en-US" sz="1100" dirty="0">
              <a:solidFill>
                <a:srgbClr val="C5C8C6"/>
              </a:solidFill>
              <a:highlight>
                <a:srgbClr val="1E1E1E"/>
              </a:highlight>
              <a:latin typeface="Consolas"/>
            </a:endParaRPr>
          </a:p>
        </p:txBody>
      </p:sp>
      <p:sp>
        <p:nvSpPr>
          <p:cNvPr id="10" name="Content Placeholder 5">
            <a:extLst>
              <a:ext uri="{FF2B5EF4-FFF2-40B4-BE49-F238E27FC236}">
                <a16:creationId xmlns:a16="http://schemas.microsoft.com/office/drawing/2014/main" id="{13DDF881-3B1D-1C95-3E7C-32D98B634AC8}"/>
              </a:ext>
            </a:extLst>
          </p:cNvPr>
          <p:cNvSpPr txBox="1">
            <a:spLocks/>
          </p:cNvSpPr>
          <p:nvPr/>
        </p:nvSpPr>
        <p:spPr>
          <a:xfrm>
            <a:off x="438042" y="4917056"/>
            <a:ext cx="9928032" cy="984132"/>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highlight>
                  <a:srgbClr val="1E1E1E"/>
                </a:highlight>
                <a:ea typeface="+mn-lt"/>
                <a:cs typeface="+mn-lt"/>
              </a:rPr>
              <a:t>Automation mistakes can break things quickly</a:t>
            </a:r>
            <a:endParaRPr lang="en-US" dirty="0"/>
          </a:p>
          <a:p>
            <a:endParaRPr lang="en-US" sz="2100" dirty="0">
              <a:highlight>
                <a:srgbClr val="1E1E1E"/>
              </a:highlight>
              <a:latin typeface="Neue Haas Grotesk Text Pro"/>
            </a:endParaRPr>
          </a:p>
        </p:txBody>
      </p:sp>
      <p:sp>
        <p:nvSpPr>
          <p:cNvPr id="11" name="Content Placeholder 5">
            <a:extLst>
              <a:ext uri="{FF2B5EF4-FFF2-40B4-BE49-F238E27FC236}">
                <a16:creationId xmlns:a16="http://schemas.microsoft.com/office/drawing/2014/main" id="{047164C7-C7FA-3684-5001-61A3A08799C6}"/>
              </a:ext>
            </a:extLst>
          </p:cNvPr>
          <p:cNvSpPr txBox="1">
            <a:spLocks/>
          </p:cNvSpPr>
          <p:nvPr/>
        </p:nvSpPr>
        <p:spPr>
          <a:xfrm>
            <a:off x="409286" y="5794074"/>
            <a:ext cx="9942409" cy="883489"/>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i="1" dirty="0">
                <a:solidFill>
                  <a:schemeClr val="tx1">
                    <a:lumMod val="85000"/>
                  </a:schemeClr>
                </a:solidFill>
                <a:highlight>
                  <a:srgbClr val="1E1E1E"/>
                </a:highlight>
                <a:latin typeface="Neue Haas Grotesk Text Pro"/>
              </a:rPr>
              <a:t>Success depends on having the right mindset and buy-in across teams &amp; setting rules early in the plan stage.</a:t>
            </a:r>
          </a:p>
          <a:p>
            <a:endParaRPr lang="en-US" sz="1800" dirty="0">
              <a:highlight>
                <a:srgbClr val="1E1E1E"/>
              </a:highlight>
              <a:latin typeface="Neue Haas Grotesk Text Pro"/>
            </a:endParaRPr>
          </a:p>
        </p:txBody>
      </p:sp>
    </p:spTree>
    <p:extLst>
      <p:ext uri="{BB962C8B-B14F-4D97-AF65-F5344CB8AC3E}">
        <p14:creationId xmlns:p14="http://schemas.microsoft.com/office/powerpoint/2010/main" val="242755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p:bldP spid="9" grpId="0"/>
      <p:bldP spid="10" grpId="0"/>
      <p:bldP spid="11" grpId="0"/>
    </p:bldLst>
  </p:timing>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600FE-F086-D3C1-2C78-153E9226A01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00186D5-7F1A-420D-0723-C1768A5C2521}"/>
              </a:ext>
            </a:extLst>
          </p:cNvPr>
          <p:cNvSpPr>
            <a:spLocks noGrp="1"/>
          </p:cNvSpPr>
          <p:nvPr>
            <p:ph type="title"/>
          </p:nvPr>
        </p:nvSpPr>
        <p:spPr/>
        <p:txBody>
          <a:bodyPr/>
          <a:lstStyle/>
          <a:p>
            <a:r>
              <a:rPr lang="en-US" dirty="0"/>
              <a:t>DevOps</a:t>
            </a:r>
            <a:br>
              <a:rPr lang="en-US" dirty="0"/>
            </a:br>
            <a:r>
              <a:rPr lang="en-US" sz="2400">
                <a:solidFill>
                  <a:schemeClr val="tx1">
                    <a:lumMod val="65000"/>
                  </a:schemeClr>
                </a:solidFill>
              </a:rPr>
              <a:t>Thank You</a:t>
            </a:r>
            <a:endParaRPr lang="en-US">
              <a:solidFill>
                <a:schemeClr val="tx1">
                  <a:lumMod val="65000"/>
                </a:schemeClr>
              </a:solidFill>
            </a:endParaRPr>
          </a:p>
        </p:txBody>
      </p:sp>
      <p:sp>
        <p:nvSpPr>
          <p:cNvPr id="6" name="Slide Number Placeholder 5">
            <a:extLst>
              <a:ext uri="{FF2B5EF4-FFF2-40B4-BE49-F238E27FC236}">
                <a16:creationId xmlns:a16="http://schemas.microsoft.com/office/drawing/2014/main" id="{57E73DFE-FB4B-CA0F-2568-562E120AD031}"/>
              </a:ext>
            </a:extLst>
          </p:cNvPr>
          <p:cNvSpPr>
            <a:spLocks noGrp="1"/>
          </p:cNvSpPr>
          <p:nvPr>
            <p:ph type="sldNum" sz="quarter" idx="12"/>
          </p:nvPr>
        </p:nvSpPr>
        <p:spPr/>
        <p:txBody>
          <a:bodyPr/>
          <a:lstStyle/>
          <a:p>
            <a:fld id="{8E274F5D-21DC-40EF-8DBA-AB9BB119E939}" type="slidenum">
              <a:rPr lang="en-US" smtClean="0"/>
              <a:pPr/>
              <a:t>9</a:t>
            </a:fld>
            <a:endParaRPr lang="en-US"/>
          </a:p>
        </p:txBody>
      </p:sp>
      <p:sp>
        <p:nvSpPr>
          <p:cNvPr id="8" name="Subtitle 7">
            <a:extLst>
              <a:ext uri="{FF2B5EF4-FFF2-40B4-BE49-F238E27FC236}">
                <a16:creationId xmlns:a16="http://schemas.microsoft.com/office/drawing/2014/main" id="{A42BF6EC-3929-C59E-CEB2-E5D8B8F2E850}"/>
              </a:ext>
            </a:extLst>
          </p:cNvPr>
          <p:cNvSpPr>
            <a:spLocks noGrp="1"/>
          </p:cNvSpPr>
          <p:nvPr>
            <p:ph sz="quarter" idx="13"/>
          </p:nvPr>
        </p:nvSpPr>
        <p:spPr>
          <a:xfrm>
            <a:off x="435215" y="3187761"/>
            <a:ext cx="3482340" cy="2073091"/>
          </a:xfrm>
        </p:spPr>
        <p:txBody>
          <a:bodyPr/>
          <a:lstStyle/>
          <a:p>
            <a:r>
              <a:rPr lang="en-US">
                <a:solidFill>
                  <a:schemeClr val="tx1">
                    <a:lumMod val="65000"/>
                  </a:schemeClr>
                </a:solidFill>
              </a:rPr>
              <a:t>Charletta </a:t>
            </a:r>
            <a:r>
              <a:rPr lang="en-US">
                <a:solidFill>
                  <a:schemeClr val="bg2">
                    <a:lumMod val="65000"/>
                    <a:lumOff val="35000"/>
                  </a:schemeClr>
                </a:solidFill>
              </a:rPr>
              <a:t>+</a:t>
            </a:r>
            <a:r>
              <a:rPr lang="en-US">
                <a:solidFill>
                  <a:schemeClr val="tx1">
                    <a:lumMod val="65000"/>
                  </a:schemeClr>
                </a:solidFill>
              </a:rPr>
              <a:t> Eder </a:t>
            </a:r>
            <a:r>
              <a:rPr lang="en-US">
                <a:solidFill>
                  <a:schemeClr val="bg2">
                    <a:lumMod val="65000"/>
                    <a:lumOff val="35000"/>
                  </a:schemeClr>
                </a:solidFill>
              </a:rPr>
              <a:t>+</a:t>
            </a:r>
            <a:r>
              <a:rPr lang="en-US">
                <a:solidFill>
                  <a:schemeClr val="tx1">
                    <a:lumMod val="65000"/>
                  </a:schemeClr>
                </a:solidFill>
              </a:rPr>
              <a:t> Joseph</a:t>
            </a:r>
          </a:p>
        </p:txBody>
      </p:sp>
      <p:pic>
        <p:nvPicPr>
          <p:cNvPr id="3" name="Picture 2" descr="A diagram of software development&#10;&#10;AI-generated content may be incorrect.">
            <a:extLst>
              <a:ext uri="{FF2B5EF4-FFF2-40B4-BE49-F238E27FC236}">
                <a16:creationId xmlns:a16="http://schemas.microsoft.com/office/drawing/2014/main" id="{3F9DBCA8-26CA-F2E9-7AAA-C4AD315FF9C3}"/>
              </a:ext>
            </a:extLst>
          </p:cNvPr>
          <p:cNvPicPr>
            <a:picLocks noChangeAspect="1"/>
          </p:cNvPicPr>
          <p:nvPr/>
        </p:nvPicPr>
        <p:blipFill>
          <a:blip r:embed="rId2"/>
          <a:stretch>
            <a:fillRect/>
          </a:stretch>
        </p:blipFill>
        <p:spPr>
          <a:xfrm>
            <a:off x="3656014" y="550333"/>
            <a:ext cx="5828242" cy="4106334"/>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133436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B53938E-C8DA-4DDE-A937-0EA87B476A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60BF7B2-4A2B-4CA7-8150-68B962AD6E62}">
  <ds:schemaRefs>
    <ds:schemaRef ds:uri="http://schemas.microsoft.com/sharepoint/v3"/>
    <ds:schemaRef ds:uri="http://schemas.openxmlformats.org/package/2006/metadata/core-properties"/>
    <ds:schemaRef ds:uri="http://schemas.microsoft.com/office/2006/metadata/properties"/>
    <ds:schemaRef ds:uri="http://www.w3.org/XML/1998/namespace"/>
    <ds:schemaRef ds:uri="http://schemas.microsoft.com/office/2006/documentManagement/types"/>
    <ds:schemaRef ds:uri="http://purl.org/dc/elements/1.1/"/>
    <ds:schemaRef ds:uri="http://purl.org/dc/terms/"/>
    <ds:schemaRef ds:uri="http://schemas.microsoft.com/office/infopath/2007/PartnerControls"/>
    <ds:schemaRef ds:uri="http://purl.org/dc/dcmitype/"/>
    <ds:schemaRef ds:uri="230e9df3-be65-4c73-a93b-d1236ebd677e"/>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C27E2546-C5EB-442C-BCA8-1B0D17D614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9</Words>
  <Application>Microsoft Office PowerPoint</Application>
  <PresentationFormat>Widescreen</PresentationFormat>
  <Paragraphs>4</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Film burn</vt:lpstr>
      <vt:lpstr>DevOps An Investigative Presentation </vt:lpstr>
      <vt:lpstr>DevOps</vt:lpstr>
      <vt:lpstr>DevOps Works</vt:lpstr>
      <vt:lpstr>DevOps Works</vt:lpstr>
      <vt:lpstr>DevOps Works</vt:lpstr>
      <vt:lpstr>DevOps Environment</vt:lpstr>
      <vt:lpstr>DevOps Advantages</vt:lpstr>
      <vt:lpstr>DevOps Disadvantages</vt:lpstr>
      <vt:lpstr>DevOps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348</cp:revision>
  <dcterms:created xsi:type="dcterms:W3CDTF">2026-01-29T17:40:37Z</dcterms:created>
  <dcterms:modified xsi:type="dcterms:W3CDTF">2026-01-29T21:22:33Z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